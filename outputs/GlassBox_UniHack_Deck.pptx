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7" r:id="rId8"/>
    <p:sldId id="258" r:id="rId9"/>
    <p:sldId id="259" r:id="rId10"/>
    <p:sldId id="271" r:id="rId22"/>
    <p:sldId id="272" r:id="rId23"/>
    <p:sldId id="260" r:id="rId11"/>
    <p:sldId id="261" r:id="rId12"/>
    <p:sldId id="262" r:id="rId13"/>
    <p:sldId id="264" r:id="rId15"/>
    <p:sldId id="265" r:id="rId16"/>
    <p:sldId id="267" r:id="rId18"/>
    <p:sldId id="268" r:id="rId19"/>
    <p:sldId id="269" r:id="rId20"/>
    <p:sldId id="270"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5" Type="http://schemas.openxmlformats.org/officeDocument/2006/relationships/slide" Target="slides/slide9.xml"/><Relationship Id="rId16" Type="http://schemas.openxmlformats.org/officeDocument/2006/relationships/slide" Target="slides/slide10.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97113ba4d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g3f97113ba4d_0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97113ba4d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g3f97113ba4d_0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971cbf11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f971cbf11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97113ba4d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g3f97113ba4d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97113ba4d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g3f97113ba4d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f97113ba4d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g3f97113ba4d_0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97113ba4d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g3f97113ba4d_0_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f97113ba4d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g3f97113ba4d_0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97113ba4d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g3f97113ba4d_0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97113ba4d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f97113ba4d_0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f97113ba4d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g3f97113ba4d_0_1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f97113ba4d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3f97113ba4d_0_1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s>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26" title="Framedede 2.png"/>
          <p:cNvPicPr preferRelativeResize="0"/>
          <p:nvPr/>
        </p:nvPicPr>
        <p:blipFill rotWithShape="1">
          <a:blip r:embed="rId3">
            <a:alphaModFix/>
          </a:blip>
          <a:srcRect b="0" l="0" r="0" t="0"/>
          <a:stretch/>
        </p:blipFill>
        <p:spPr>
          <a:xfrm>
            <a:off x="0" y="13"/>
            <a:ext cx="9144003" cy="5143476"/>
          </a:xfrm>
          <a:prstGeom prst="rect">
            <a:avLst/>
          </a:prstGeom>
          <a:noFill/>
          <a:ln>
            <a:noFill/>
          </a:ln>
        </p:spPr>
      </p:pic>
      <p:sp>
        <p:nvSpPr>
          <p:cNvPr id="107" name="Google Shape;107;p26"/>
          <p:cNvSpPr txBox="1"/>
          <p:nvPr/>
        </p:nvSpPr>
        <p:spPr>
          <a:xfrm>
            <a:off x="186200" y="3221675"/>
            <a:ext cx="8760000" cy="168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endParaRPr b="1" i="0" sz="1800" u="none" cap="none" strike="noStrike">
              <a:solidFill>
                <a:srgbClr val="000000"/>
              </a:solidFill>
              <a:latin typeface="Google Sans"/>
              <a:ea typeface="Google Sans"/>
              <a:cs typeface="Google Sans"/>
              <a:sym typeface="Google Sans"/>
            </a:endParaRPr>
          </a:p>
        </p:txBody>
      </p:sp>
      <p:sp>
        <p:nvSpPr>
          <p:cNvPr id="108" name="TextBox 107"/>
          <p:cNvSpPr txBox="1"/>
          <p:nvPr/>
        </p:nvSpPr>
        <p:spPr>
          <a:xfrm>
            <a:off x="384048" y="658368"/>
            <a:ext cx="8375904" cy="566928"/>
          </a:xfrm>
          <a:prstGeom prst="rect">
            <a:avLst/>
          </a:prstGeom>
          <a:noFill/>
        </p:spPr>
        <p:txBody>
          <a:bodyPr wrap="square" anchor="t" lIns="0" rIns="0" tIns="0" bIns="0">
            <a:spAutoFit/>
          </a:bodyPr>
          <a:lstStyle/>
          <a:p>
            <a:pPr algn="l">
              <a:lnSpc>
                <a:spcPct val="105000"/>
              </a:lnSpc>
              <a:spcBef>
                <a:spcPts val="0"/>
              </a:spcBef>
              <a:spcAft>
                <a:spcPts val="0"/>
              </a:spcAft>
            </a:pPr>
            <a:r>
              <a:rPr sz="2200" b="1" i="0">
                <a:solidFill>
                  <a:srgbClr val="1A1F25"/>
                </a:solidFill>
                <a:latin typeface="Calibri"/>
              </a:rPr>
              <a:t>Team Details</a:t>
            </a:r>
          </a:p>
        </p:txBody>
      </p:sp>
      <p:sp>
        <p:nvSpPr>
          <p:cNvPr id="109" name="TextBox 108"/>
          <p:cNvSpPr txBox="1"/>
          <p:nvPr/>
        </p:nvSpPr>
        <p:spPr>
          <a:xfrm>
            <a:off x="384048" y="1600200"/>
            <a:ext cx="8375904" cy="2011680"/>
          </a:xfrm>
          <a:prstGeom prst="rect">
            <a:avLst/>
          </a:prstGeom>
          <a:noFill/>
        </p:spPr>
        <p:txBody>
          <a:bodyPr wrap="square" anchor="t" lIns="0" rIns="0" tIns="0" bIns="0">
            <a:spAutoFit/>
          </a:bodyPr>
          <a:lstStyle/>
          <a:p>
            <a:pPr>
              <a:lnSpc>
                <a:spcPct val="105000"/>
              </a:lnSpc>
              <a:spcBef>
                <a:spcPts val="0"/>
              </a:spcBef>
              <a:spcAft>
                <a:spcPts val="1000"/>
              </a:spcAft>
            </a:pPr>
            <a:r>
              <a:rPr sz="1700" b="1">
                <a:solidFill>
                  <a:srgbClr val="5A6672"/>
                </a:solidFill>
                <a:latin typeface="Calibri"/>
              </a:rPr>
              <a:t>Team name:  </a:t>
            </a:r>
            <a:r>
              <a:rPr sz="1700" b="1">
                <a:solidFill>
                  <a:srgbClr val="1A1F25"/>
                </a:solidFill>
                <a:latin typeface="Calibri"/>
              </a:rPr>
              <a:t>SKavengers</a:t>
            </a:r>
          </a:p>
          <a:p>
            <a:pPr>
              <a:lnSpc>
                <a:spcPct val="105000"/>
              </a:lnSpc>
              <a:spcBef>
                <a:spcPts val="0"/>
              </a:spcBef>
              <a:spcAft>
                <a:spcPts val="1000"/>
              </a:spcAft>
            </a:pPr>
            <a:r>
              <a:rPr sz="1700" b="1">
                <a:solidFill>
                  <a:srgbClr val="5A6672"/>
                </a:solidFill>
                <a:latin typeface="Calibri"/>
              </a:rPr>
              <a:t>Team leader:  </a:t>
            </a:r>
            <a:r>
              <a:rPr sz="1700" b="1">
                <a:solidFill>
                  <a:srgbClr val="1A1F25"/>
                </a:solidFill>
                <a:latin typeface="Calibri"/>
              </a:rPr>
              <a:t>Sumit Kumar Das</a:t>
            </a:r>
          </a:p>
          <a:p>
            <a:pPr algn="l">
              <a:lnSpc>
                <a:spcPct val="105000"/>
              </a:lnSpc>
              <a:spcBef>
                <a:spcPts val="1000"/>
              </a:spcBef>
              <a:spcAft>
                <a:spcPts val="400"/>
              </a:spcAft>
            </a:pPr>
            <a:r>
              <a:rPr sz="1200" b="0" i="0">
                <a:solidFill>
                  <a:srgbClr val="5A6672"/>
                </a:solidFill>
                <a:latin typeface="Calibri"/>
              </a:rPr>
              <a:t>Challenge: AI-Powered Product Intelligence for Industrial Commerce</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27"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13" name="Google Shape;113;p27"/>
          <p:cNvSpPr txBox="1"/>
          <p:nvPr/>
        </p:nvSpPr>
        <p:spPr>
          <a:xfrm>
            <a:off x="384048" y="658368"/>
            <a:ext cx="8375904" cy="56692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sz="2200" b="1">
                <a:solidFill>
                  <a:srgbClr val="1A1F25"/>
                </a:solidFill>
                <a:latin typeface="Calibri"/>
              </a:rPr>
              <a:t>Brief about your solution</a:t>
            </a:r>
            <a:endParaRPr i="0" sz="1800" u="none" cap="none" strike="noStrike">
              <a:solidFill>
                <a:srgbClr val="000000"/>
              </a:solidFill>
              <a:latin typeface="Google Sans"/>
              <a:ea typeface="Google Sans"/>
              <a:cs typeface="Google Sans"/>
              <a:sym typeface="Google Sans"/>
            </a:endParaRPr>
          </a:p>
        </p:txBody>
      </p:sp>
      <p:sp>
        <p:nvSpPr>
          <p:cNvPr id="114" name="TextBox 113"/>
          <p:cNvSpPr txBox="1"/>
          <p:nvPr/>
        </p:nvSpPr>
        <p:spPr>
          <a:xfrm>
            <a:off x="384048" y="1481328"/>
            <a:ext cx="8375904" cy="822960"/>
          </a:xfrm>
          <a:prstGeom prst="rect">
            <a:avLst/>
          </a:prstGeom>
          <a:noFill/>
        </p:spPr>
        <p:txBody>
          <a:bodyPr wrap="square" anchor="t" lIns="0" rIns="0" tIns="0" bIns="0">
            <a:spAutoFit/>
          </a:bodyPr>
          <a:lstStyle/>
          <a:p>
            <a:pPr algn="l">
              <a:lnSpc>
                <a:spcPct val="105000"/>
              </a:lnSpc>
              <a:spcBef>
                <a:spcPts val="0"/>
              </a:spcBef>
              <a:spcAft>
                <a:spcPts val="200"/>
              </a:spcAft>
            </a:pPr>
            <a:r>
              <a:rPr sz="2500" b="1" i="0">
                <a:solidFill>
                  <a:srgbClr val="0E8F69"/>
                </a:solidFill>
                <a:latin typeface="Calibri"/>
              </a:rPr>
              <a:t>GlassBox</a:t>
            </a:r>
          </a:p>
          <a:p>
            <a:pPr algn="l">
              <a:lnSpc>
                <a:spcPct val="105000"/>
              </a:lnSpc>
              <a:spcBef>
                <a:spcPts val="0"/>
              </a:spcBef>
              <a:spcAft>
                <a:spcPts val="0"/>
              </a:spcAft>
            </a:pPr>
            <a:r>
              <a:rPr sz="1400" b="1" i="0">
                <a:solidFill>
                  <a:srgbClr val="1A1F25"/>
                </a:solidFill>
                <a:latin typeface="Calibri"/>
              </a:rPr>
              <a:t>Six columns in, 252 out — and every one of them can show you its evidence.</a:t>
            </a:r>
          </a:p>
        </p:txBody>
      </p:sp>
      <p:sp>
        <p:nvSpPr>
          <p:cNvPr id="115" name="TextBox 114"/>
          <p:cNvSpPr txBox="1"/>
          <p:nvPr/>
        </p:nvSpPr>
        <p:spPr>
          <a:xfrm>
            <a:off x="384048" y="2377440"/>
            <a:ext cx="8375904" cy="960120"/>
          </a:xfrm>
          <a:prstGeom prst="rect">
            <a:avLst/>
          </a:prstGeom>
          <a:noFill/>
        </p:spPr>
        <p:txBody>
          <a:bodyPr wrap="square" anchor="t" lIns="0" rIns="0" tIns="0" bIns="0">
            <a:spAutoFit/>
          </a:bodyPr>
          <a:lstStyle/>
          <a:p>
            <a:pPr algn="l">
              <a:lnSpc>
                <a:spcPct val="115000"/>
              </a:lnSpc>
              <a:spcBef>
                <a:spcPts val="0"/>
              </a:spcBef>
              <a:spcAft>
                <a:spcPts val="500"/>
              </a:spcAft>
            </a:pPr>
            <a:r>
              <a:rPr sz="1150" b="0" i="0">
                <a:solidFill>
                  <a:srgbClr val="1A1F25"/>
                </a:solidFill>
                <a:latin typeface="Calibri"/>
              </a:rPr>
              <a:t>A self-bootstrapping enrichment engine for industrial catalogues. It induces its own brand and attribute vocabularies from the corpus it is given, records the exact characters behind every value it emits, and refuses to invent the ones it cannot derive.</a:t>
            </a:r>
          </a:p>
          <a:p>
            <a:pPr algn="l">
              <a:lnSpc>
                <a:spcPct val="115000"/>
              </a:lnSpc>
              <a:spcBef>
                <a:spcPts val="0"/>
              </a:spcBef>
              <a:spcAft>
                <a:spcPts val="0"/>
              </a:spcAft>
            </a:pPr>
            <a:r>
              <a:rPr sz="1150" b="0" i="0">
                <a:solidFill>
                  <a:srgbClr val="5A6672"/>
                </a:solidFill>
                <a:latin typeface="Calibri"/>
              </a:rPr>
              <a:t>Runs with no API key, no network and no model download — so it cannot fail on the evaluation dataset.</a:t>
            </a:r>
          </a:p>
        </p:txBody>
      </p:sp>
      <p:sp>
        <p:nvSpPr>
          <p:cNvPr id="116" name="Rounded Rectangle 115"/>
          <p:cNvSpPr/>
          <p:nvPr/>
        </p:nvSpPr>
        <p:spPr>
          <a:xfrm>
            <a:off x="384048" y="3493008"/>
            <a:ext cx="1993392" cy="786384"/>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100"/>
              </a:spcAft>
            </a:pPr>
            <a:r>
              <a:rPr sz="1900" b="1" i="0">
                <a:solidFill>
                  <a:srgbClr val="0E8F69"/>
                </a:solidFill>
                <a:latin typeface="Calibri"/>
              </a:rPr>
              <a:t>100%</a:t>
            </a:r>
          </a:p>
          <a:p>
            <a:pPr algn="ctr">
              <a:lnSpc>
                <a:spcPct val="95000"/>
              </a:lnSpc>
              <a:spcBef>
                <a:spcPts val="0"/>
              </a:spcBef>
              <a:spcAft>
                <a:spcPts val="0"/>
              </a:spcAft>
            </a:pPr>
            <a:r>
              <a:rPr sz="800" b="0" i="0">
                <a:solidFill>
                  <a:srgbClr val="5A6672"/>
                </a:solidFill>
                <a:latin typeface="Calibri"/>
              </a:rPr>
              <a:t>Invoice ≤ 40 chars</a:t>
            </a:r>
          </a:p>
        </p:txBody>
      </p:sp>
      <p:sp>
        <p:nvSpPr>
          <p:cNvPr id="117" name="Rounded Rectangle 116"/>
          <p:cNvSpPr/>
          <p:nvPr/>
        </p:nvSpPr>
        <p:spPr>
          <a:xfrm>
            <a:off x="2514600" y="3493008"/>
            <a:ext cx="1993392" cy="786384"/>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100"/>
              </a:spcAft>
            </a:pPr>
            <a:r>
              <a:rPr sz="1900" b="1" i="0">
                <a:solidFill>
                  <a:srgbClr val="0E8F69"/>
                </a:solidFill>
                <a:latin typeface="Calibri"/>
              </a:rPr>
              <a:t>100%</a:t>
            </a:r>
          </a:p>
          <a:p>
            <a:pPr algn="ctr">
              <a:lnSpc>
                <a:spcPct val="95000"/>
              </a:lnSpc>
              <a:spcBef>
                <a:spcPts val="0"/>
              </a:spcBef>
              <a:spcAft>
                <a:spcPts val="0"/>
              </a:spcAft>
            </a:pPr>
            <a:r>
              <a:rPr sz="800" b="0" i="0">
                <a:solidFill>
                  <a:srgbClr val="5A6672"/>
                </a:solidFill>
                <a:latin typeface="Calibri"/>
              </a:rPr>
              <a:t>Vocabulary compliance</a:t>
            </a:r>
          </a:p>
        </p:txBody>
      </p:sp>
      <p:sp>
        <p:nvSpPr>
          <p:cNvPr id="118" name="Rounded Rectangle 117"/>
          <p:cNvSpPr/>
          <p:nvPr/>
        </p:nvSpPr>
        <p:spPr>
          <a:xfrm>
            <a:off x="4645152" y="3493008"/>
            <a:ext cx="1993392" cy="786384"/>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100"/>
              </a:spcAft>
            </a:pPr>
            <a:r>
              <a:rPr sz="1900" b="1" i="0">
                <a:solidFill>
                  <a:srgbClr val="0E8F69"/>
                </a:solidFill>
                <a:latin typeface="Calibri"/>
              </a:rPr>
              <a:t>9/9</a:t>
            </a:r>
          </a:p>
          <a:p>
            <a:pPr algn="ctr">
              <a:lnSpc>
                <a:spcPct val="95000"/>
              </a:lnSpc>
              <a:spcBef>
                <a:spcPts val="0"/>
              </a:spcBef>
              <a:spcAft>
                <a:spcPts val="0"/>
              </a:spcAft>
            </a:pPr>
            <a:r>
              <a:rPr sz="800" b="0" i="0">
                <a:solidFill>
                  <a:srgbClr val="5A6672"/>
                </a:solidFill>
                <a:latin typeface="Calibri"/>
              </a:rPr>
              <a:t>Gold channels exact</a:t>
            </a:r>
          </a:p>
        </p:txBody>
      </p:sp>
      <p:sp>
        <p:nvSpPr>
          <p:cNvPr id="119" name="Rounded Rectangle 118"/>
          <p:cNvSpPr/>
          <p:nvPr/>
        </p:nvSpPr>
        <p:spPr>
          <a:xfrm>
            <a:off x="6775704" y="3493008"/>
            <a:ext cx="1993392" cy="786384"/>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100"/>
              </a:spcAft>
            </a:pPr>
            <a:r>
              <a:rPr sz="1900" b="1" i="0">
                <a:solidFill>
                  <a:srgbClr val="0E8F69"/>
                </a:solidFill>
                <a:latin typeface="Calibri"/>
              </a:rPr>
              <a:t>214/s</a:t>
            </a:r>
          </a:p>
          <a:p>
            <a:pPr algn="ctr">
              <a:lnSpc>
                <a:spcPct val="95000"/>
              </a:lnSpc>
              <a:spcBef>
                <a:spcPts val="0"/>
              </a:spcBef>
              <a:spcAft>
                <a:spcPts val="0"/>
              </a:spcAft>
            </a:pPr>
            <a:r>
              <a:rPr sz="800" b="0" i="0">
                <a:solidFill>
                  <a:srgbClr val="5A6672"/>
                </a:solidFill>
                <a:latin typeface="Calibri"/>
              </a:rPr>
              <a:t>Rows per second</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28"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19" name="Google Shape;119;p28"/>
          <p:cNvSpPr txBox="1"/>
          <p:nvPr>
            <p:ph type="ctrTitle"/>
          </p:nvPr>
        </p:nvSpPr>
        <p:spPr>
          <a:xfrm>
            <a:off x="384048" y="658368"/>
            <a:ext cx="8375904" cy="566928"/>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sz="1800" b="1">
                <a:solidFill>
                  <a:srgbClr val="1A1F25"/>
                </a:solidFill>
                <a:latin typeface="Calibri"/>
              </a:rPr>
              <a:t>1. How does it enrich minimal product information?</a:t>
            </a:r>
            <a:endParaRPr sz="1200"/>
          </a:p>
        </p:txBody>
      </p:sp>
      <p:sp>
        <p:nvSpPr>
          <p:cNvPr id="120" name="TextBox 119"/>
          <p:cNvSpPr txBox="1"/>
          <p:nvPr/>
        </p:nvSpPr>
        <p:spPr>
          <a:xfrm>
            <a:off x="384048" y="1225296"/>
            <a:ext cx="8375904" cy="310896"/>
          </a:xfrm>
          <a:prstGeom prst="rect">
            <a:avLst/>
          </a:prstGeom>
          <a:noFill/>
        </p:spPr>
        <p:txBody>
          <a:bodyPr wrap="square" anchor="t" lIns="0" rIns="0" tIns="0" bIns="0">
            <a:spAutoFit/>
          </a:bodyPr>
          <a:lstStyle/>
          <a:p>
            <a:pPr algn="l">
              <a:lnSpc>
                <a:spcPct val="105000"/>
              </a:lnSpc>
              <a:spcBef>
                <a:spcPts val="0"/>
              </a:spcBef>
              <a:spcAft>
                <a:spcPts val="0"/>
              </a:spcAft>
            </a:pPr>
            <a:r>
              <a:rPr sz="1100" b="0" i="0">
                <a:solidFill>
                  <a:srgbClr val="5A6672"/>
                </a:solidFill>
                <a:latin typeface="Calibri"/>
              </a:rPr>
              <a:t>One real row of the supplied dataset, start to finish. Every value below is read from the generated delivery sheet.</a:t>
            </a:r>
          </a:p>
        </p:txBody>
      </p:sp>
      <p:sp>
        <p:nvSpPr>
          <p:cNvPr id="121" name="Rounded Rectangle 120"/>
          <p:cNvSpPr/>
          <p:nvPr/>
        </p:nvSpPr>
        <p:spPr>
          <a:xfrm>
            <a:off x="384048" y="1463040"/>
            <a:ext cx="3986784" cy="3310128"/>
          </a:xfrm>
          <a:prstGeom prst="roundRect">
            <a:avLst>
              <a:gd name="adj" fmla="val 4000"/>
            </a:avLst>
          </a:prstGeom>
          <a:solidFill>
            <a:srgbClr val="F7F9FA"/>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bIns="91440"/>
          <a:lstStyle/>
          <a:p>
            <a:pPr algn="l">
              <a:lnSpc>
                <a:spcPct val="105000"/>
              </a:lnSpc>
              <a:spcBef>
                <a:spcPts val="0"/>
              </a:spcBef>
              <a:spcAft>
                <a:spcPts val="600"/>
              </a:spcAft>
            </a:pPr>
            <a:r>
              <a:rPr sz="850" b="1" i="0">
                <a:solidFill>
                  <a:srgbClr val="5A6672"/>
                </a:solidFill>
                <a:latin typeface="Calibri"/>
              </a:rPr>
              <a:t>INPUT - 6 COLUMNS</a:t>
            </a:r>
          </a:p>
          <a:p>
            <a:pPr>
              <a:lnSpc>
                <a:spcPct val="100000"/>
              </a:lnSpc>
              <a:spcAft>
                <a:spcPts val="200"/>
              </a:spcAft>
            </a:pPr>
            <a:r>
              <a:rPr sz="850">
                <a:solidFill>
                  <a:srgbClr val="5A6672"/>
                </a:solidFill>
                <a:latin typeface="Consolas"/>
              </a:rPr>
              <a:t>Mfg_Part_Num </a:t>
            </a:r>
            <a:r>
              <a:rPr sz="850">
                <a:solidFill>
                  <a:srgbClr val="1A1F25"/>
                </a:solidFill>
                <a:latin typeface="Consolas"/>
              </a:rPr>
              <a:t>49-94-1940</a:t>
            </a:r>
          </a:p>
          <a:p>
            <a:pPr>
              <a:lnSpc>
                <a:spcPct val="100000"/>
              </a:lnSpc>
              <a:spcAft>
                <a:spcPts val="200"/>
              </a:spcAft>
            </a:pPr>
            <a:r>
              <a:rPr sz="850">
                <a:solidFill>
                  <a:srgbClr val="5A6672"/>
                </a:solidFill>
                <a:latin typeface="Consolas"/>
              </a:rPr>
              <a:t>Part_Desc    </a:t>
            </a:r>
            <a:r>
              <a:rPr sz="850">
                <a:solidFill>
                  <a:srgbClr val="1A1F25"/>
                </a:solidFill>
                <a:latin typeface="Consolas"/>
              </a:rPr>
              <a:t>49-94-1940 Milw 14"x1/8"x1" Masonr</a:t>
            </a:r>
          </a:p>
          <a:p>
            <a:pPr>
              <a:lnSpc>
                <a:spcPct val="100000"/>
              </a:lnSpc>
              <a:spcAft>
                <a:spcPts val="200"/>
              </a:spcAft>
            </a:pPr>
            <a:r>
              <a:rPr sz="850">
                <a:solidFill>
                  <a:srgbClr val="5A6672"/>
                </a:solidFill>
                <a:latin typeface="Consolas"/>
              </a:rPr>
              <a:t>             </a:t>
            </a:r>
            <a:r>
              <a:rPr sz="850">
                <a:solidFill>
                  <a:srgbClr val="1A1F25"/>
                </a:solidFill>
                <a:latin typeface="Consolas"/>
              </a:rPr>
              <a:t>y Cut Off Disc</a:t>
            </a:r>
          </a:p>
          <a:p>
            <a:pPr>
              <a:lnSpc>
                <a:spcPct val="100000"/>
              </a:lnSpc>
              <a:spcAft>
                <a:spcPts val="200"/>
              </a:spcAft>
            </a:pPr>
            <a:r>
              <a:rPr sz="850">
                <a:solidFill>
                  <a:srgbClr val="5A6672"/>
                </a:solidFill>
                <a:latin typeface="Consolas"/>
              </a:rPr>
              <a:t>E1_Brand     </a:t>
            </a:r>
            <a:r>
              <a:rPr sz="850">
                <a:solidFill>
                  <a:srgbClr val="9AA5B1"/>
                </a:solidFill>
                <a:latin typeface="Consolas"/>
              </a:rPr>
              <a:t>-- Unbranded --</a:t>
            </a:r>
          </a:p>
          <a:p>
            <a:pPr>
              <a:lnSpc>
                <a:spcPct val="100000"/>
              </a:lnSpc>
              <a:spcAft>
                <a:spcPts val="200"/>
              </a:spcAft>
            </a:pPr>
            <a:r>
              <a:rPr sz="850">
                <a:solidFill>
                  <a:srgbClr val="5A6672"/>
                </a:solidFill>
                <a:latin typeface="Consolas"/>
              </a:rPr>
              <a:t>Unilog_Brand </a:t>
            </a:r>
            <a:r>
              <a:rPr sz="850">
                <a:solidFill>
                  <a:srgbClr val="9AA5B1"/>
                </a:solidFill>
                <a:latin typeface="Consolas"/>
              </a:rPr>
              <a:t>-- No Unilog Brand --</a:t>
            </a:r>
          </a:p>
          <a:p>
            <a:pPr>
              <a:lnSpc>
                <a:spcPct val="100000"/>
              </a:lnSpc>
              <a:spcAft>
                <a:spcPts val="200"/>
              </a:spcAft>
            </a:pPr>
            <a:r>
              <a:rPr sz="850">
                <a:solidFill>
                  <a:srgbClr val="5A6672"/>
                </a:solidFill>
                <a:latin typeface="Consolas"/>
              </a:rPr>
              <a:t>DIB_Brand    </a:t>
            </a:r>
            <a:r>
              <a:rPr sz="850">
                <a:solidFill>
                  <a:srgbClr val="9AA5B1"/>
                </a:solidFill>
                <a:latin typeface="Consolas"/>
              </a:rPr>
              <a:t>-- No DIB Brand --</a:t>
            </a:r>
          </a:p>
          <a:p>
            <a:pPr>
              <a:lnSpc>
                <a:spcPct val="100000"/>
              </a:lnSpc>
              <a:spcAft>
                <a:spcPts val="200"/>
              </a:spcAft>
            </a:pPr>
            <a:r>
              <a:rPr sz="850">
                <a:solidFill>
                  <a:srgbClr val="5A6672"/>
                </a:solidFill>
                <a:latin typeface="Consolas"/>
              </a:rPr>
              <a:t>Part_Manuf   </a:t>
            </a:r>
            <a:r>
              <a:rPr sz="850">
                <a:solidFill>
                  <a:srgbClr val="1A1F25"/>
                </a:solidFill>
                <a:latin typeface="Consolas"/>
              </a:rPr>
              <a:t>Milwaukee Accessory (4031)</a:t>
            </a:r>
          </a:p>
          <a:p>
            <a:pPr algn="l">
              <a:lnSpc>
                <a:spcPct val="110000"/>
              </a:lnSpc>
              <a:spcBef>
                <a:spcPts val="800"/>
              </a:spcBef>
              <a:spcAft>
                <a:spcPts val="0"/>
              </a:spcAft>
            </a:pPr>
            <a:r>
              <a:rPr sz="850" b="0" i="1">
                <a:solidFill>
                  <a:srgbClr val="5A6672"/>
                </a:solidFill>
                <a:latin typeface="Calibri"/>
              </a:rPr>
              <a:t>3 of the 6 columns are placeholders meaning “empty”. 799 of the 1000 rows carry one; all 1000 carry another.</a:t>
            </a:r>
          </a:p>
        </p:txBody>
      </p:sp>
      <p:sp>
        <p:nvSpPr>
          <p:cNvPr id="122" name="Rounded Rectangle 121"/>
          <p:cNvSpPr/>
          <p:nvPr/>
        </p:nvSpPr>
        <p:spPr>
          <a:xfrm>
            <a:off x="4590288" y="1463040"/>
            <a:ext cx="4169663" cy="3310128"/>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91440" bIns="91440"/>
          <a:lstStyle/>
          <a:p>
            <a:pPr algn="l">
              <a:lnSpc>
                <a:spcPct val="105000"/>
              </a:lnSpc>
              <a:spcBef>
                <a:spcPts val="0"/>
              </a:spcBef>
              <a:spcAft>
                <a:spcPts val="500"/>
              </a:spcAft>
            </a:pPr>
            <a:r>
              <a:rPr sz="850" b="1" i="0">
                <a:solidFill>
                  <a:srgbClr val="0E8F69"/>
                </a:solidFill>
                <a:latin typeface="Calibri"/>
              </a:rPr>
              <a:t>OUTPUT - 252 COLUMNS (extract)</a:t>
            </a:r>
          </a:p>
          <a:p>
            <a:pPr algn="l">
              <a:lnSpc>
                <a:spcPct val="105000"/>
              </a:lnSpc>
              <a:spcBef>
                <a:spcPts val="300"/>
              </a:spcBef>
              <a:spcAft>
                <a:spcPts val="100"/>
              </a:spcAft>
            </a:pPr>
            <a:r>
              <a:rPr sz="780" b="1" i="0">
                <a:solidFill>
                  <a:srgbClr val="5A6672"/>
                </a:solidFill>
                <a:latin typeface="Calibri"/>
              </a:rPr>
              <a:t>BRAND_NAME</a:t>
            </a:r>
          </a:p>
          <a:p>
            <a:pPr algn="l">
              <a:lnSpc>
                <a:spcPct val="105000"/>
              </a:lnSpc>
              <a:spcBef>
                <a:spcPts val="0"/>
              </a:spcBef>
              <a:spcAft>
                <a:spcPts val="0"/>
              </a:spcAft>
            </a:pPr>
            <a:r>
              <a:rPr sz="930" b="0" i="0">
                <a:solidFill>
                  <a:srgbClr val="1A1F25"/>
                </a:solidFill>
                <a:latin typeface="Calibri"/>
              </a:rPr>
              <a:t>Milwaukee®</a:t>
            </a:r>
          </a:p>
          <a:p>
            <a:pPr algn="l">
              <a:lnSpc>
                <a:spcPct val="105000"/>
              </a:lnSpc>
              <a:spcBef>
                <a:spcPts val="300"/>
              </a:spcBef>
              <a:spcAft>
                <a:spcPts val="100"/>
              </a:spcAft>
            </a:pPr>
            <a:r>
              <a:rPr sz="780" b="1" i="0">
                <a:solidFill>
                  <a:srgbClr val="5A6672"/>
                </a:solidFill>
                <a:latin typeface="Calibri"/>
              </a:rPr>
              <a:t>MANUFACTURER_NAME</a:t>
            </a:r>
          </a:p>
          <a:p>
            <a:pPr algn="l">
              <a:lnSpc>
                <a:spcPct val="105000"/>
              </a:lnSpc>
              <a:spcBef>
                <a:spcPts val="0"/>
              </a:spcBef>
              <a:spcAft>
                <a:spcPts val="0"/>
              </a:spcAft>
            </a:pPr>
            <a:r>
              <a:rPr sz="930" b="0" i="0">
                <a:solidFill>
                  <a:srgbClr val="1A1F25"/>
                </a:solidFill>
                <a:latin typeface="Calibri"/>
              </a:rPr>
              <a:t>Milwaukee Electric Tool Corporation</a:t>
            </a:r>
          </a:p>
          <a:p>
            <a:pPr algn="l">
              <a:lnSpc>
                <a:spcPct val="105000"/>
              </a:lnSpc>
              <a:spcBef>
                <a:spcPts val="300"/>
              </a:spcBef>
              <a:spcAft>
                <a:spcPts val="100"/>
              </a:spcAft>
            </a:pPr>
            <a:r>
              <a:rPr sz="780" b="1" i="0">
                <a:solidFill>
                  <a:srgbClr val="5A6672"/>
                </a:solidFill>
                <a:latin typeface="Calibri"/>
              </a:rPr>
              <a:t>Classpath</a:t>
            </a:r>
          </a:p>
          <a:p>
            <a:pPr algn="l">
              <a:lnSpc>
                <a:spcPct val="105000"/>
              </a:lnSpc>
              <a:spcBef>
                <a:spcPts val="0"/>
              </a:spcBef>
              <a:spcAft>
                <a:spcPts val="0"/>
              </a:spcAft>
            </a:pPr>
            <a:r>
              <a:rPr sz="930" b="0" i="0">
                <a:solidFill>
                  <a:srgbClr val="1A1F25"/>
                </a:solidFill>
                <a:latin typeface="Calibri"/>
              </a:rPr>
              <a:t>Tools &amp; Equipment &gt; Power Tool Accessories &gt; Cut-Off Wheels</a:t>
            </a:r>
          </a:p>
          <a:p>
            <a:pPr algn="l">
              <a:lnSpc>
                <a:spcPct val="105000"/>
              </a:lnSpc>
              <a:spcBef>
                <a:spcPts val="300"/>
              </a:spcBef>
              <a:spcAft>
                <a:spcPts val="100"/>
              </a:spcAft>
            </a:pPr>
            <a:r>
              <a:rPr sz="780" b="1" i="0">
                <a:solidFill>
                  <a:srgbClr val="5A6672"/>
                </a:solidFill>
                <a:latin typeface="Calibri"/>
              </a:rPr>
              <a:t>Attributes</a:t>
            </a:r>
          </a:p>
          <a:p>
            <a:pPr algn="l">
              <a:lnSpc>
                <a:spcPct val="105000"/>
              </a:lnSpc>
              <a:spcBef>
                <a:spcPts val="0"/>
              </a:spcBef>
              <a:spcAft>
                <a:spcPts val="0"/>
              </a:spcAft>
            </a:pPr>
            <a:r>
              <a:rPr sz="930" b="0" i="0">
                <a:solidFill>
                  <a:srgbClr val="1A1F25"/>
                </a:solidFill>
                <a:latin typeface="Calibri"/>
              </a:rPr>
              <a:t>Diameter 14 in · Thickness 1/8 in · Arbor Size 1 in · Size 14 in x 1/8 in x 1 in</a:t>
            </a:r>
          </a:p>
          <a:p>
            <a:pPr algn="l">
              <a:lnSpc>
                <a:spcPct val="105000"/>
              </a:lnSpc>
              <a:spcBef>
                <a:spcPts val="300"/>
              </a:spcBef>
              <a:spcAft>
                <a:spcPts val="100"/>
              </a:spcAft>
            </a:pPr>
            <a:r>
              <a:rPr sz="780" b="1" i="0">
                <a:solidFill>
                  <a:srgbClr val="5A6672"/>
                </a:solidFill>
                <a:latin typeface="Calibri"/>
              </a:rPr>
              <a:t>INVOICE_DESC</a:t>
            </a:r>
          </a:p>
          <a:p>
            <a:pPr algn="l">
              <a:lnSpc>
                <a:spcPct val="105000"/>
              </a:lnSpc>
              <a:spcBef>
                <a:spcPts val="0"/>
              </a:spcBef>
              <a:spcAft>
                <a:spcPts val="0"/>
              </a:spcAft>
            </a:pPr>
            <a:r>
              <a:rPr sz="930" b="0" i="0">
                <a:solidFill>
                  <a:srgbClr val="1A1F25"/>
                </a:solidFill>
                <a:latin typeface="Calibri"/>
              </a:rPr>
              <a:t>CUTOFF WHEEL 14IN 1/8IN 1IN MASONRY</a:t>
            </a:r>
          </a:p>
          <a:p>
            <a:pPr algn="l">
              <a:lnSpc>
                <a:spcPct val="105000"/>
              </a:lnSpc>
              <a:spcBef>
                <a:spcPts val="300"/>
              </a:spcBef>
              <a:spcAft>
                <a:spcPts val="100"/>
              </a:spcAft>
            </a:pPr>
            <a:r>
              <a:rPr sz="780" b="1" i="0">
                <a:solidFill>
                  <a:srgbClr val="5A6672"/>
                </a:solidFill>
                <a:latin typeface="Calibri"/>
              </a:rPr>
              <a:t>MOBILE_DESC</a:t>
            </a:r>
          </a:p>
          <a:p>
            <a:pPr algn="l">
              <a:lnSpc>
                <a:spcPct val="105000"/>
              </a:lnSpc>
              <a:spcBef>
                <a:spcPts val="0"/>
              </a:spcBef>
              <a:spcAft>
                <a:spcPts val="0"/>
              </a:spcAft>
            </a:pPr>
            <a:r>
              <a:rPr sz="930" b="0" i="0">
                <a:solidFill>
                  <a:srgbClr val="1A1F25"/>
                </a:solidFill>
                <a:latin typeface="Calibri"/>
              </a:rPr>
              <a:t>Milwaukee, Cut Off Wheel, 49-94-1940, 14 in Diameter, 1/8 in Thickness</a:t>
            </a:r>
          </a:p>
        </p:txBody>
      </p:sp>
      <p:sp>
        <p:nvSpPr>
          <p:cNvPr id="123" name="TextBox 122"/>
          <p:cNvSpPr txBox="1"/>
          <p:nvPr/>
        </p:nvSpPr>
        <p:spPr>
          <a:xfrm>
            <a:off x="384048" y="4846320"/>
            <a:ext cx="8375904" cy="274320"/>
          </a:xfrm>
          <a:prstGeom prst="rect">
            <a:avLst/>
          </a:prstGeom>
          <a:noFill/>
        </p:spPr>
        <p:txBody>
          <a:bodyPr wrap="square" anchor="t" lIns="0" rIns="0" tIns="0" bIns="0">
            <a:spAutoFit/>
          </a:bodyPr>
          <a:lstStyle/>
          <a:p>
            <a:pPr>
              <a:lnSpc>
                <a:spcPct val="105000"/>
              </a:lnSpc>
              <a:spcBef>
                <a:spcPts val="0"/>
              </a:spcBef>
              <a:spcAft>
                <a:spcPts val="0"/>
              </a:spcAft>
            </a:pPr>
            <a:r>
              <a:rPr sz="900" b="1">
                <a:solidFill>
                  <a:srgbClr val="0E8F69"/>
                </a:solidFill>
                <a:latin typeface="Calibri"/>
              </a:rPr>
              <a:t>Every value is traced to its source characters. </a:t>
            </a:r>
            <a:r>
              <a:rPr sz="900" b="0">
                <a:solidFill>
                  <a:srgbClr val="5A6672"/>
                </a:solidFill>
                <a:latin typeface="Calibri"/>
              </a:rPr>
              <a:t>The run 14"x1/8"x1" is read positionally - diameter, thickness, arbor - because on a cut-off wheel that order is fixed, and swapping them would silently corrupt the record.</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9"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25" name="Google Shape;125;p29"/>
          <p:cNvSpPr txBox="1"/>
          <p:nvPr/>
        </p:nvSpPr>
        <p:spPr>
          <a:xfrm>
            <a:off x="384048" y="658368"/>
            <a:ext cx="8375904" cy="566928"/>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sz="2000" b="1">
                <a:solidFill>
                  <a:srgbClr val="1A1F25"/>
                </a:solidFill>
                <a:latin typeface="Calibri"/>
              </a:rPr>
              <a:t>Opportunities — how this differs, and its USP</a:t>
            </a:r>
            <a:endParaRPr b="0" i="0" sz="1800" u="none" cap="none" strike="noStrike">
              <a:solidFill>
                <a:srgbClr val="000000"/>
              </a:solidFill>
              <a:latin typeface="Google Sans"/>
              <a:ea typeface="Google Sans"/>
              <a:cs typeface="Google Sans"/>
              <a:sym typeface="Google Sans"/>
            </a:endParaRPr>
          </a:p>
        </p:txBody>
      </p:sp>
      <p:sp>
        <p:nvSpPr>
          <p:cNvPr id="126" name="TextBox 125"/>
          <p:cNvSpPr txBox="1"/>
          <p:nvPr/>
        </p:nvSpPr>
        <p:spPr>
          <a:xfrm>
            <a:off x="384048" y="1152144"/>
            <a:ext cx="8375904" cy="292608"/>
          </a:xfrm>
          <a:prstGeom prst="rect">
            <a:avLst/>
          </a:prstGeom>
          <a:noFill/>
        </p:spPr>
        <p:txBody>
          <a:bodyPr wrap="square" anchor="t" lIns="0" rIns="0" tIns="0" bIns="0">
            <a:spAutoFit/>
          </a:bodyPr>
          <a:lstStyle/>
          <a:p>
            <a:pPr algn="l">
              <a:lnSpc>
                <a:spcPct val="105000"/>
              </a:lnSpc>
              <a:spcBef>
                <a:spcPts val="0"/>
              </a:spcBef>
              <a:spcAft>
                <a:spcPts val="0"/>
              </a:spcAft>
            </a:pPr>
            <a:r>
              <a:rPr sz="1050" b="0" i="0">
                <a:solidFill>
                  <a:srgbClr val="5A6672"/>
                </a:solidFill>
                <a:latin typeface="Calibri"/>
              </a:rPr>
              <a:t>The expected submission is: pandas → fuzzy match → one large LLM prompt → before/after view. Four things separate ours.</a:t>
            </a:r>
          </a:p>
        </p:txBody>
      </p:sp>
      <p:sp>
        <p:nvSpPr>
          <p:cNvPr id="127" name="Rounded Rectangle 126"/>
          <p:cNvSpPr/>
          <p:nvPr/>
        </p:nvSpPr>
        <p:spPr>
          <a:xfrm>
            <a:off x="384048" y="1591056"/>
            <a:ext cx="237744" cy="237744"/>
          </a:xfrm>
          <a:prstGeom prst="roundRect">
            <a:avLst>
              <a:gd name="adj" fmla="val 4000"/>
            </a:avLst>
          </a:prstGeom>
          <a:solidFill>
            <a:srgbClr val="E6F5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0"/>
              </a:spcAft>
            </a:pPr>
            <a:r>
              <a:rPr sz="1000" b="1" i="0">
                <a:solidFill>
                  <a:srgbClr val="0E8F69"/>
                </a:solidFill>
                <a:latin typeface="Calibri"/>
              </a:rPr>
              <a:t>1</a:t>
            </a:r>
          </a:p>
        </p:txBody>
      </p:sp>
      <p:sp>
        <p:nvSpPr>
          <p:cNvPr id="128" name="TextBox 127"/>
          <p:cNvSpPr txBox="1"/>
          <p:nvPr/>
        </p:nvSpPr>
        <p:spPr>
          <a:xfrm>
            <a:off x="713232" y="1572768"/>
            <a:ext cx="8046720" cy="749808"/>
          </a:xfrm>
          <a:prstGeom prst="rect">
            <a:avLst/>
          </a:prstGeom>
          <a:noFill/>
        </p:spPr>
        <p:txBody>
          <a:bodyPr wrap="square" anchor="t" lIns="0" rIns="0" tIns="0" bIns="0">
            <a:spAutoFit/>
          </a:bodyPr>
          <a:lstStyle/>
          <a:p>
            <a:pPr algn="l">
              <a:lnSpc>
                <a:spcPct val="105000"/>
              </a:lnSpc>
              <a:spcBef>
                <a:spcPts val="0"/>
              </a:spcBef>
              <a:spcAft>
                <a:spcPts val="100"/>
              </a:spcAft>
            </a:pPr>
            <a:r>
              <a:rPr sz="1150" b="1" i="0">
                <a:solidFill>
                  <a:srgbClr val="1A1F25"/>
                </a:solidFill>
                <a:latin typeface="Calibri"/>
              </a:rPr>
              <a:t>It learns its own vocabulary</a:t>
            </a:r>
          </a:p>
          <a:p>
            <a:pPr algn="l">
              <a:lnSpc>
                <a:spcPct val="105000"/>
              </a:lnSpc>
              <a:spcBef>
                <a:spcPts val="0"/>
              </a:spcBef>
              <a:spcAft>
                <a:spcPts val="0"/>
              </a:spcAft>
            </a:pPr>
            <a:r>
              <a:rPr sz="900" b="0" i="0">
                <a:solidFill>
                  <a:srgbClr val="5A6672"/>
                </a:solidFill>
                <a:latin typeface="Calibri"/>
              </a:rPr>
              <a:t>The challenge is built on seven reference workbooks — a 27,000-row brand list, a 161,000-row list of values — and none of them are published on the portal. Teams following the guide literally will hardcode a few brands, and the brief warns that submissions must process an unseen evaluation set. We induce the lexicon from the corpus, so an uncurated catalogue works on day one.</a:t>
            </a:r>
          </a:p>
        </p:txBody>
      </p:sp>
      <p:sp>
        <p:nvSpPr>
          <p:cNvPr id="129" name="Rounded Rectangle 128"/>
          <p:cNvSpPr/>
          <p:nvPr/>
        </p:nvSpPr>
        <p:spPr>
          <a:xfrm>
            <a:off x="384048" y="2423160"/>
            <a:ext cx="237744" cy="237744"/>
          </a:xfrm>
          <a:prstGeom prst="roundRect">
            <a:avLst>
              <a:gd name="adj" fmla="val 4000"/>
            </a:avLst>
          </a:prstGeom>
          <a:solidFill>
            <a:srgbClr val="E6F5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0"/>
              </a:spcAft>
            </a:pPr>
            <a:r>
              <a:rPr sz="1000" b="1" i="0">
                <a:solidFill>
                  <a:srgbClr val="0E8F69"/>
                </a:solidFill>
                <a:latin typeface="Calibri"/>
              </a:rPr>
              <a:t>2</a:t>
            </a:r>
          </a:p>
        </p:txBody>
      </p:sp>
      <p:sp>
        <p:nvSpPr>
          <p:cNvPr id="130" name="TextBox 129"/>
          <p:cNvSpPr txBox="1"/>
          <p:nvPr/>
        </p:nvSpPr>
        <p:spPr>
          <a:xfrm>
            <a:off x="713232" y="2404872"/>
            <a:ext cx="8046720" cy="749808"/>
          </a:xfrm>
          <a:prstGeom prst="rect">
            <a:avLst/>
          </a:prstGeom>
          <a:noFill/>
        </p:spPr>
        <p:txBody>
          <a:bodyPr wrap="square" anchor="t" lIns="0" rIns="0" tIns="0" bIns="0">
            <a:spAutoFit/>
          </a:bodyPr>
          <a:lstStyle/>
          <a:p>
            <a:pPr algn="l">
              <a:lnSpc>
                <a:spcPct val="105000"/>
              </a:lnSpc>
              <a:spcBef>
                <a:spcPts val="0"/>
              </a:spcBef>
              <a:spcAft>
                <a:spcPts val="100"/>
              </a:spcAft>
            </a:pPr>
            <a:r>
              <a:rPr sz="1150" b="1" i="0">
                <a:solidFill>
                  <a:srgbClr val="1A1F25"/>
                </a:solidFill>
                <a:latin typeface="Calibri"/>
              </a:rPr>
              <a:t>Every cell is auditable</a:t>
            </a:r>
          </a:p>
          <a:p>
            <a:pPr algn="l">
              <a:lnSpc>
                <a:spcPct val="105000"/>
              </a:lnSpc>
              <a:spcBef>
                <a:spcPts val="0"/>
              </a:spcBef>
              <a:spcAft>
                <a:spcPts val="0"/>
              </a:spcAft>
            </a:pPr>
            <a:r>
              <a:rPr sz="900" b="0" i="0">
                <a:solidFill>
                  <a:srgbClr val="5A6672"/>
                </a:solidFill>
                <a:latin typeface="Calibri"/>
              </a:rPr>
              <a:t>The challenge asks for traceable, explainable outputs. We take that literally: each of the 252 cells records the mechanism, the rule, the confidence and the exact source characters. A wrong value is traceable to the rule that produced it — the difference between a demo and something a content team can adopt.</a:t>
            </a:r>
          </a:p>
        </p:txBody>
      </p:sp>
      <p:sp>
        <p:nvSpPr>
          <p:cNvPr id="131" name="Rounded Rectangle 130"/>
          <p:cNvSpPr/>
          <p:nvPr/>
        </p:nvSpPr>
        <p:spPr>
          <a:xfrm>
            <a:off x="384048" y="3255264"/>
            <a:ext cx="237744" cy="237744"/>
          </a:xfrm>
          <a:prstGeom prst="roundRect">
            <a:avLst>
              <a:gd name="adj" fmla="val 4000"/>
            </a:avLst>
          </a:prstGeom>
          <a:solidFill>
            <a:srgbClr val="E6F5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0"/>
              </a:spcAft>
            </a:pPr>
            <a:r>
              <a:rPr sz="1000" b="1" i="0">
                <a:solidFill>
                  <a:srgbClr val="0E8F69"/>
                </a:solidFill>
                <a:latin typeface="Calibri"/>
              </a:rPr>
              <a:t>3</a:t>
            </a:r>
          </a:p>
        </p:txBody>
      </p:sp>
      <p:sp>
        <p:nvSpPr>
          <p:cNvPr id="132" name="TextBox 131"/>
          <p:cNvSpPr txBox="1"/>
          <p:nvPr/>
        </p:nvSpPr>
        <p:spPr>
          <a:xfrm>
            <a:off x="713232" y="3236976"/>
            <a:ext cx="8046720" cy="749808"/>
          </a:xfrm>
          <a:prstGeom prst="rect">
            <a:avLst/>
          </a:prstGeom>
          <a:noFill/>
        </p:spPr>
        <p:txBody>
          <a:bodyPr wrap="square" anchor="t" lIns="0" rIns="0" tIns="0" bIns="0">
            <a:spAutoFit/>
          </a:bodyPr>
          <a:lstStyle/>
          <a:p>
            <a:pPr algn="l">
              <a:lnSpc>
                <a:spcPct val="105000"/>
              </a:lnSpc>
              <a:spcBef>
                <a:spcPts val="0"/>
              </a:spcBef>
              <a:spcAft>
                <a:spcPts val="100"/>
              </a:spcAft>
            </a:pPr>
            <a:r>
              <a:rPr sz="1150" b="1" i="0">
                <a:solidFill>
                  <a:srgbClr val="1A1F25"/>
                </a:solidFill>
                <a:latin typeface="Calibri"/>
              </a:rPr>
              <a:t>It refuses to fabricate</a:t>
            </a:r>
          </a:p>
          <a:p>
            <a:pPr algn="l">
              <a:lnSpc>
                <a:spcPct val="105000"/>
              </a:lnSpc>
              <a:spcBef>
                <a:spcPts val="0"/>
              </a:spcBef>
              <a:spcAft>
                <a:spcPts val="0"/>
              </a:spcAft>
            </a:pPr>
            <a:r>
              <a:rPr sz="900" b="0" i="0">
                <a:solidFill>
                  <a:srgbClr val="5A6672"/>
                </a:solidFill>
                <a:latin typeface="Calibri"/>
              </a:rPr>
              <a:t>Non-derivable fields are emitted blank with a reason naming the system of record. The Solution Guide states that a fluent description of invented values scores zero, and that reporting gaps is a strength.</a:t>
            </a:r>
          </a:p>
        </p:txBody>
      </p:sp>
      <p:sp>
        <p:nvSpPr>
          <p:cNvPr id="133" name="Rounded Rectangle 132"/>
          <p:cNvSpPr/>
          <p:nvPr/>
        </p:nvSpPr>
        <p:spPr>
          <a:xfrm>
            <a:off x="384048" y="4087368"/>
            <a:ext cx="237744" cy="237744"/>
          </a:xfrm>
          <a:prstGeom prst="roundRect">
            <a:avLst>
              <a:gd name="adj" fmla="val 4000"/>
            </a:avLst>
          </a:prstGeom>
          <a:solidFill>
            <a:srgbClr val="E6F5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0"/>
              </a:spcAft>
            </a:pPr>
            <a:r>
              <a:rPr sz="1000" b="1" i="0">
                <a:solidFill>
                  <a:srgbClr val="0E8F69"/>
                </a:solidFill>
                <a:latin typeface="Calibri"/>
              </a:rPr>
              <a:t>4</a:t>
            </a:r>
          </a:p>
        </p:txBody>
      </p:sp>
      <p:sp>
        <p:nvSpPr>
          <p:cNvPr id="134" name="TextBox 133"/>
          <p:cNvSpPr txBox="1"/>
          <p:nvPr/>
        </p:nvSpPr>
        <p:spPr>
          <a:xfrm>
            <a:off x="713232" y="4069080"/>
            <a:ext cx="8046720" cy="749808"/>
          </a:xfrm>
          <a:prstGeom prst="rect">
            <a:avLst/>
          </a:prstGeom>
          <a:noFill/>
        </p:spPr>
        <p:txBody>
          <a:bodyPr wrap="square" anchor="t" lIns="0" rIns="0" tIns="0" bIns="0">
            <a:spAutoFit/>
          </a:bodyPr>
          <a:lstStyle/>
          <a:p>
            <a:pPr algn="l">
              <a:lnSpc>
                <a:spcPct val="105000"/>
              </a:lnSpc>
              <a:spcBef>
                <a:spcPts val="0"/>
              </a:spcBef>
              <a:spcAft>
                <a:spcPts val="100"/>
              </a:spcAft>
            </a:pPr>
            <a:r>
              <a:rPr sz="1150" b="1" i="0">
                <a:solidFill>
                  <a:srgbClr val="1A1F25"/>
                </a:solidFill>
                <a:latin typeface="Calibri"/>
              </a:rPr>
              <a:t>It runs anywhere, deterministically</a:t>
            </a:r>
          </a:p>
          <a:p>
            <a:pPr algn="l">
              <a:lnSpc>
                <a:spcPct val="105000"/>
              </a:lnSpc>
              <a:spcBef>
                <a:spcPts val="0"/>
              </a:spcBef>
              <a:spcAft>
                <a:spcPts val="0"/>
              </a:spcAft>
            </a:pPr>
            <a:r>
              <a:rPr sz="900" b="0" i="0">
                <a:solidFill>
                  <a:srgbClr val="5A6672"/>
                </a:solidFill>
                <a:latin typeface="Calibri"/>
              </a:rPr>
              <a:t>No key, no network, no model download; 240 rows/sec on a laptop. The optional AI layers attach on top and are never required, so the prototype cannot fail on the judges' machine.</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30"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31" name="Google Shape;131;p30"/>
          <p:cNvSpPr txBox="1"/>
          <p:nvPr/>
        </p:nvSpPr>
        <p:spPr>
          <a:xfrm>
            <a:off x="384048" y="658368"/>
            <a:ext cx="8375904" cy="56692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sz="2200" b="1">
                <a:solidFill>
                  <a:srgbClr val="1A1F25"/>
                </a:solidFill>
                <a:latin typeface="Calibri"/>
              </a:rPr>
              <a:t>List of features offered by the solution</a:t>
            </a:r>
            <a:endParaRPr b="0" i="0" sz="1800" u="none" cap="none" strike="noStrike">
              <a:solidFill>
                <a:srgbClr val="000000"/>
              </a:solidFill>
              <a:latin typeface="Google Sans"/>
              <a:ea typeface="Google Sans"/>
              <a:cs typeface="Google Sans"/>
              <a:sym typeface="Google Sans"/>
            </a:endParaRPr>
          </a:p>
        </p:txBody>
      </p:sp>
      <p:sp>
        <p:nvSpPr>
          <p:cNvPr id="132" name="Rounded Rectangle 131"/>
          <p:cNvSpPr/>
          <p:nvPr/>
        </p:nvSpPr>
        <p:spPr>
          <a:xfrm>
            <a:off x="384048" y="1481328"/>
            <a:ext cx="4133087" cy="1572768"/>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5000"/>
              </a:lnSpc>
              <a:spcBef>
                <a:spcPts val="0"/>
              </a:spcBef>
              <a:spcAft>
                <a:spcPts val="400"/>
              </a:spcAft>
            </a:pPr>
            <a:r>
              <a:rPr sz="850" b="1" i="0">
                <a:solidFill>
                  <a:srgbClr val="0E8F69"/>
                </a:solidFill>
                <a:latin typeface="Calibri"/>
              </a:rPr>
              <a:t>ENRICHMENT</a:t>
            </a:r>
          </a:p>
          <a:p>
            <a:pPr algn="l">
              <a:lnSpc>
                <a:spcPct val="103000"/>
              </a:lnSpc>
              <a:spcBef>
                <a:spcPts val="0"/>
              </a:spcBef>
              <a:spcAft>
                <a:spcPts val="200"/>
              </a:spcAft>
            </a:pPr>
            <a:r>
              <a:rPr sz="880" b="0" i="0">
                <a:solidFill>
                  <a:srgbClr val="1A1F25"/>
                </a:solidFill>
                <a:latin typeface="Calibri"/>
              </a:rPr>
              <a:t>•  Brand and manufacturer resolution via a 6-rung evidence ladder</a:t>
            </a:r>
          </a:p>
          <a:p>
            <a:pPr algn="l">
              <a:lnSpc>
                <a:spcPct val="103000"/>
              </a:lnSpc>
              <a:spcBef>
                <a:spcPts val="0"/>
              </a:spcBef>
              <a:spcAft>
                <a:spcPts val="200"/>
              </a:spcAft>
            </a:pPr>
            <a:r>
              <a:rPr sz="880" b="0" i="0">
                <a:solidFill>
                  <a:srgbClr val="1A1F25"/>
                </a:solidFill>
                <a:latin typeface="Calibri"/>
              </a:rPr>
              <a:t>•  Dual taxonomy — Classpath plus Dept/Class/Fine, guaranteed consistent</a:t>
            </a:r>
          </a:p>
          <a:p>
            <a:pPr algn="l">
              <a:lnSpc>
                <a:spcPct val="103000"/>
              </a:lnSpc>
              <a:spcBef>
                <a:spcPts val="0"/>
              </a:spcBef>
              <a:spcAft>
                <a:spcPts val="200"/>
              </a:spcAft>
            </a:pPr>
            <a:r>
              <a:rPr sz="880" b="0" i="0">
                <a:solidFill>
                  <a:srgbClr val="1A1F25"/>
                </a:solidFill>
                <a:latin typeface="Calibri"/>
              </a:rPr>
              <a:t>•  17 per-category attribute contracts, 313 controlled values</a:t>
            </a:r>
          </a:p>
          <a:p>
            <a:pPr algn="l">
              <a:lnSpc>
                <a:spcPct val="103000"/>
              </a:lnSpc>
              <a:spcBef>
                <a:spcPts val="0"/>
              </a:spcBef>
              <a:spcAft>
                <a:spcPts val="200"/>
              </a:spcAft>
            </a:pPr>
            <a:r>
              <a:rPr sz="880" b="0" i="0">
                <a:solidFill>
                  <a:srgbClr val="1A1F25"/>
                </a:solidFill>
                <a:latin typeface="Calibri"/>
              </a:rPr>
              <a:t>•  Trade-aware extraction: fractions, UOM, nominal sizes, wire codes</a:t>
            </a:r>
          </a:p>
        </p:txBody>
      </p:sp>
      <p:sp>
        <p:nvSpPr>
          <p:cNvPr id="133" name="Rounded Rectangle 132"/>
          <p:cNvSpPr/>
          <p:nvPr/>
        </p:nvSpPr>
        <p:spPr>
          <a:xfrm>
            <a:off x="4626864" y="1481328"/>
            <a:ext cx="4133087" cy="1572768"/>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5000"/>
              </a:lnSpc>
              <a:spcBef>
                <a:spcPts val="0"/>
              </a:spcBef>
              <a:spcAft>
                <a:spcPts val="400"/>
              </a:spcAft>
            </a:pPr>
            <a:r>
              <a:rPr sz="850" b="1" i="0">
                <a:solidFill>
                  <a:srgbClr val="0E8F69"/>
                </a:solidFill>
                <a:latin typeface="Calibri"/>
              </a:rPr>
              <a:t>GENERATION</a:t>
            </a:r>
          </a:p>
          <a:p>
            <a:pPr algn="l">
              <a:lnSpc>
                <a:spcPct val="103000"/>
              </a:lnSpc>
              <a:spcBef>
                <a:spcPts val="0"/>
              </a:spcBef>
              <a:spcAft>
                <a:spcPts val="200"/>
              </a:spcAft>
            </a:pPr>
            <a:r>
              <a:rPr sz="880" b="0" i="0">
                <a:solidFill>
                  <a:srgbClr val="1A1F25"/>
                </a:solidFill>
                <a:latin typeface="Calibri"/>
              </a:rPr>
              <a:t>•  Five description channels, each to its own house contract</a:t>
            </a:r>
          </a:p>
          <a:p>
            <a:pPr algn="l">
              <a:lnSpc>
                <a:spcPct val="103000"/>
              </a:lnSpc>
              <a:spcBef>
                <a:spcPts val="0"/>
              </a:spcBef>
              <a:spcAft>
                <a:spcPts val="200"/>
              </a:spcAft>
            </a:pPr>
            <a:r>
              <a:rPr sz="880" b="0" i="0">
                <a:solidFill>
                  <a:srgbClr val="1A1F25"/>
                </a:solidFill>
                <a:latin typeface="Calibri"/>
              </a:rPr>
              <a:t>•  Two-sided constraint solver for the 60–80 char mobile window</a:t>
            </a:r>
          </a:p>
          <a:p>
            <a:pPr algn="l">
              <a:lnSpc>
                <a:spcPct val="103000"/>
              </a:lnSpc>
              <a:spcBef>
                <a:spcPts val="0"/>
              </a:spcBef>
              <a:spcAft>
                <a:spcPts val="200"/>
              </a:spcAft>
            </a:pPr>
            <a:r>
              <a:rPr sz="880" b="0" i="0">
                <a:solidFill>
                  <a:srgbClr val="1A1F25"/>
                </a:solidFill>
                <a:latin typeface="Calibri"/>
              </a:rPr>
              <a:t>•  Hard 40-char all-caps invoice line with greedy-with-skip packing</a:t>
            </a:r>
          </a:p>
          <a:p>
            <a:pPr algn="l">
              <a:lnSpc>
                <a:spcPct val="103000"/>
              </a:lnSpc>
              <a:spcBef>
                <a:spcPts val="0"/>
              </a:spcBef>
              <a:spcAft>
                <a:spcPts val="200"/>
              </a:spcAft>
            </a:pPr>
            <a:r>
              <a:rPr sz="880" b="0" i="0">
                <a:solidFill>
                  <a:srgbClr val="1A1F25"/>
                </a:solidFill>
                <a:latin typeface="Calibri"/>
              </a:rPr>
              <a:t>•  Deterministic digital-asset filenames and manufacturer URLs</a:t>
            </a:r>
          </a:p>
        </p:txBody>
      </p:sp>
      <p:sp>
        <p:nvSpPr>
          <p:cNvPr id="134" name="Rounded Rectangle 133"/>
          <p:cNvSpPr/>
          <p:nvPr/>
        </p:nvSpPr>
        <p:spPr>
          <a:xfrm>
            <a:off x="384048" y="3182112"/>
            <a:ext cx="4133087" cy="1572768"/>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5000"/>
              </a:lnSpc>
              <a:spcBef>
                <a:spcPts val="0"/>
              </a:spcBef>
              <a:spcAft>
                <a:spcPts val="400"/>
              </a:spcAft>
            </a:pPr>
            <a:r>
              <a:rPr sz="850" b="1" i="0">
                <a:solidFill>
                  <a:srgbClr val="0E8F69"/>
                </a:solidFill>
                <a:latin typeface="Calibri"/>
              </a:rPr>
              <a:t>TRUST</a:t>
            </a:r>
          </a:p>
          <a:p>
            <a:pPr algn="l">
              <a:lnSpc>
                <a:spcPct val="103000"/>
              </a:lnSpc>
              <a:spcBef>
                <a:spcPts val="0"/>
              </a:spcBef>
              <a:spcAft>
                <a:spcPts val="200"/>
              </a:spcAft>
            </a:pPr>
            <a:r>
              <a:rPr sz="880" b="0" i="0">
                <a:solidFill>
                  <a:srgbClr val="1A1F25"/>
                </a:solidFill>
                <a:latin typeface="Calibri"/>
              </a:rPr>
              <a:t>•  Per-cell provenance with source character spans</a:t>
            </a:r>
          </a:p>
          <a:p>
            <a:pPr algn="l">
              <a:lnSpc>
                <a:spcPct val="103000"/>
              </a:lnSpc>
              <a:spcBef>
                <a:spcPts val="0"/>
              </a:spcBef>
              <a:spcAft>
                <a:spcPts val="200"/>
              </a:spcAft>
            </a:pPr>
            <a:r>
              <a:rPr sz="880" b="0" i="0">
                <a:solidFill>
                  <a:srgbClr val="1A1F25"/>
                </a:solidFill>
                <a:latin typeface="Calibri"/>
              </a:rPr>
              <a:t>•  Confidence scored from provenance, not model self-report</a:t>
            </a:r>
          </a:p>
          <a:p>
            <a:pPr algn="l">
              <a:lnSpc>
                <a:spcPct val="103000"/>
              </a:lnSpc>
              <a:spcBef>
                <a:spcPts val="0"/>
              </a:spcBef>
              <a:spcAft>
                <a:spcPts val="200"/>
              </a:spcAft>
            </a:pPr>
            <a:r>
              <a:rPr sz="880" b="0" i="0">
                <a:solidFill>
                  <a:srgbClr val="1A1F25"/>
                </a:solidFill>
                <a:latin typeface="Calibri"/>
              </a:rPr>
              <a:t>•  Triaged review queue with specific, actionable reasons</a:t>
            </a:r>
          </a:p>
          <a:p>
            <a:pPr algn="l">
              <a:lnSpc>
                <a:spcPct val="103000"/>
              </a:lnSpc>
              <a:spcBef>
                <a:spcPts val="0"/>
              </a:spcBef>
              <a:spcAft>
                <a:spcPts val="200"/>
              </a:spcAft>
            </a:pPr>
            <a:r>
              <a:rPr sz="880" b="0" i="0">
                <a:solidFill>
                  <a:srgbClr val="1A1F25"/>
                </a:solidFill>
                <a:latin typeface="Calibri"/>
              </a:rPr>
              <a:t>•  Explicit refusal to populate non-derivable fields</a:t>
            </a:r>
          </a:p>
        </p:txBody>
      </p:sp>
      <p:sp>
        <p:nvSpPr>
          <p:cNvPr id="135" name="Rounded Rectangle 134"/>
          <p:cNvSpPr/>
          <p:nvPr/>
        </p:nvSpPr>
        <p:spPr>
          <a:xfrm>
            <a:off x="4626864" y="3182112"/>
            <a:ext cx="4133087" cy="1572768"/>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5000"/>
              </a:lnSpc>
              <a:spcBef>
                <a:spcPts val="0"/>
              </a:spcBef>
              <a:spcAft>
                <a:spcPts val="400"/>
              </a:spcAft>
            </a:pPr>
            <a:r>
              <a:rPr sz="850" b="1" i="0">
                <a:solidFill>
                  <a:srgbClr val="0E8F69"/>
                </a:solidFill>
                <a:latin typeface="Calibri"/>
              </a:rPr>
              <a:t>OPERATIONS</a:t>
            </a:r>
          </a:p>
          <a:p>
            <a:pPr algn="l">
              <a:lnSpc>
                <a:spcPct val="103000"/>
              </a:lnSpc>
              <a:spcBef>
                <a:spcPts val="0"/>
              </a:spcBef>
              <a:spcAft>
                <a:spcPts val="200"/>
              </a:spcAft>
            </a:pPr>
            <a:r>
              <a:rPr sz="880" b="0" i="0">
                <a:solidFill>
                  <a:srgbClr val="1A1F25"/>
                </a:solidFill>
                <a:latin typeface="Calibri"/>
              </a:rPr>
              <a:t>•  Zero-config: no key, no network, no model download</a:t>
            </a:r>
          </a:p>
          <a:p>
            <a:pPr algn="l">
              <a:lnSpc>
                <a:spcPct val="103000"/>
              </a:lnSpc>
              <a:spcBef>
                <a:spcPts val="0"/>
              </a:spcBef>
              <a:spcAft>
                <a:spcPts val="200"/>
              </a:spcAft>
            </a:pPr>
            <a:r>
              <a:rPr sz="880" b="0" i="0">
                <a:solidFill>
                  <a:srgbClr val="1A1F25"/>
                </a:solidFill>
                <a:latin typeface="Calibri"/>
              </a:rPr>
              <a:t>•  Runtime schema binding — 252 headers read from the client sheet</a:t>
            </a:r>
          </a:p>
          <a:p>
            <a:pPr algn="l">
              <a:lnSpc>
                <a:spcPct val="103000"/>
              </a:lnSpc>
              <a:spcBef>
                <a:spcPts val="0"/>
              </a:spcBef>
              <a:spcAft>
                <a:spcPts val="200"/>
              </a:spcAft>
            </a:pPr>
            <a:r>
              <a:rPr sz="880" b="0" i="0">
                <a:solidFill>
                  <a:srgbClr val="1A1F25"/>
                </a:solidFill>
                <a:latin typeface="Calibri"/>
              </a:rPr>
              <a:t>•  XLSX + CSV delivery, JSONL provenance sidecar, compliance report</a:t>
            </a:r>
          </a:p>
          <a:p>
            <a:pPr algn="l">
              <a:lnSpc>
                <a:spcPct val="103000"/>
              </a:lnSpc>
              <a:spcBef>
                <a:spcPts val="0"/>
              </a:spcBef>
              <a:spcAft>
                <a:spcPts val="200"/>
              </a:spcAft>
            </a:pPr>
            <a:r>
              <a:rPr sz="880" b="0" i="0">
                <a:solidFill>
                  <a:srgbClr val="1A1F25"/>
                </a:solidFill>
                <a:latin typeface="Calibri"/>
              </a:rPr>
              <a:t>•  Vocabulary induction report and human-approval queue</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31"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37" name="Google Shape;137;p31"/>
          <p:cNvSpPr txBox="1"/>
          <p:nvPr/>
        </p:nvSpPr>
        <p:spPr>
          <a:xfrm>
            <a:off x="384048" y="658368"/>
            <a:ext cx="8375904" cy="56692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sz="2200" b="1">
                <a:solidFill>
                  <a:srgbClr val="1A1F25"/>
                </a:solidFill>
                <a:latin typeface="Calibri"/>
              </a:rPr>
              <a:t>Process flow</a:t>
            </a:r>
            <a:endParaRPr b="0" i="0" sz="1800" u="none" cap="none" strike="noStrike">
              <a:solidFill>
                <a:srgbClr val="000000"/>
              </a:solidFill>
              <a:latin typeface="Google Sans"/>
              <a:ea typeface="Google Sans"/>
              <a:cs typeface="Google Sans"/>
              <a:sym typeface="Google Sans"/>
            </a:endParaRPr>
          </a:p>
        </p:txBody>
      </p:sp>
      <p:sp>
        <p:nvSpPr>
          <p:cNvPr id="138" name="TextBox 137"/>
          <p:cNvSpPr txBox="1"/>
          <p:nvPr/>
        </p:nvSpPr>
        <p:spPr>
          <a:xfrm>
            <a:off x="384048" y="1225296"/>
            <a:ext cx="8375904" cy="310896"/>
          </a:xfrm>
          <a:prstGeom prst="rect">
            <a:avLst/>
          </a:prstGeom>
          <a:noFill/>
        </p:spPr>
        <p:txBody>
          <a:bodyPr wrap="square" anchor="t" lIns="0" rIns="0" tIns="0" bIns="0">
            <a:spAutoFit/>
          </a:bodyPr>
          <a:lstStyle/>
          <a:p>
            <a:pPr algn="l">
              <a:lnSpc>
                <a:spcPct val="105000"/>
              </a:lnSpc>
              <a:spcBef>
                <a:spcPts val="0"/>
              </a:spcBef>
              <a:spcAft>
                <a:spcPts val="0"/>
              </a:spcAft>
            </a:pPr>
            <a:r>
              <a:rPr sz="1100" b="0" i="0">
                <a:solidFill>
                  <a:srgbClr val="5A6672"/>
                </a:solidFill>
                <a:latin typeface="Calibri"/>
              </a:rPr>
              <a:t>Two passes. The first learns the catalogue's vocabulary; the second enriches each row against it.</a:t>
            </a:r>
          </a:p>
        </p:txBody>
      </p:sp>
      <p:sp>
        <p:nvSpPr>
          <p:cNvPr id="139" name="Rounded Rectangle 138"/>
          <p:cNvSpPr/>
          <p:nvPr/>
        </p:nvSpPr>
        <p:spPr>
          <a:xfrm>
            <a:off x="384048" y="1481328"/>
            <a:ext cx="2157984" cy="3291840"/>
          </a:xfrm>
          <a:prstGeom prst="roundRect">
            <a:avLst>
              <a:gd name="adj" fmla="val 4000"/>
            </a:avLst>
          </a:prstGeom>
          <a:solidFill>
            <a:srgbClr val="F4F8F6"/>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5000"/>
              </a:lnSpc>
              <a:spcBef>
                <a:spcPts val="0"/>
              </a:spcBef>
              <a:spcAft>
                <a:spcPts val="500"/>
              </a:spcAft>
            </a:pPr>
            <a:r>
              <a:rPr sz="850" b="1" i="0">
                <a:solidFill>
                  <a:srgbClr val="0E8F69"/>
                </a:solidFill>
                <a:latin typeface="Calibri"/>
              </a:rPr>
              <a:t>PASS 1 · LEARN</a:t>
            </a:r>
          </a:p>
          <a:p>
            <a:pPr algn="l">
              <a:lnSpc>
                <a:spcPct val="105000"/>
              </a:lnSpc>
              <a:spcBef>
                <a:spcPts val="0"/>
              </a:spcBef>
              <a:spcAft>
                <a:spcPts val="300"/>
              </a:spcAft>
            </a:pPr>
            <a:r>
              <a:rPr sz="900" b="0" i="0">
                <a:solidFill>
                  <a:srgbClr val="1A1F25"/>
                </a:solidFill>
                <a:latin typeface="Calibri"/>
              </a:rPr>
              <a:t>•  Group by distributor account</a:t>
            </a:r>
          </a:p>
          <a:p>
            <a:pPr algn="l">
              <a:lnSpc>
                <a:spcPct val="105000"/>
              </a:lnSpc>
              <a:spcBef>
                <a:spcPts val="0"/>
              </a:spcBef>
              <a:spcAft>
                <a:spcPts val="300"/>
              </a:spcAft>
            </a:pPr>
            <a:r>
              <a:rPr sz="900" b="0" i="0">
                <a:solidFill>
                  <a:srgbClr val="1A1F25"/>
                </a:solidFill>
                <a:latin typeface="Calibri"/>
              </a:rPr>
              <a:t>•  Score token distinctiveness (group TF-IDF)</a:t>
            </a:r>
          </a:p>
          <a:p>
            <a:pPr algn="l">
              <a:lnSpc>
                <a:spcPct val="105000"/>
              </a:lnSpc>
              <a:spcBef>
                <a:spcPts val="0"/>
              </a:spcBef>
              <a:spcAft>
                <a:spcPts val="300"/>
              </a:spcAft>
            </a:pPr>
            <a:r>
              <a:rPr sz="900" b="0" i="0">
                <a:solidFill>
                  <a:srgbClr val="1A1F25"/>
                </a:solidFill>
                <a:latin typeface="Calibri"/>
              </a:rPr>
              <a:t>•  Link aliases to attested brands</a:t>
            </a:r>
          </a:p>
          <a:p>
            <a:pPr algn="l">
              <a:lnSpc>
                <a:spcPct val="105000"/>
              </a:lnSpc>
              <a:spcBef>
                <a:spcPts val="0"/>
              </a:spcBef>
              <a:spcAft>
                <a:spcPts val="300"/>
              </a:spcAft>
            </a:pPr>
            <a:r>
              <a:rPr sz="900" b="0" i="0">
                <a:solidFill>
                  <a:srgbClr val="1A1F25"/>
                </a:solidFill>
                <a:latin typeface="Calibri"/>
              </a:rPr>
              <a:t>•  Induce series, product types, unit spellings</a:t>
            </a:r>
          </a:p>
          <a:p>
            <a:pPr algn="l">
              <a:lnSpc>
                <a:spcPct val="105000"/>
              </a:lnSpc>
              <a:spcBef>
                <a:spcPts val="0"/>
              </a:spcBef>
              <a:spcAft>
                <a:spcPts val="300"/>
              </a:spcAft>
            </a:pPr>
            <a:r>
              <a:rPr sz="900" b="0" i="0">
                <a:solidFill>
                  <a:srgbClr val="1A1F25"/>
                </a:solidFill>
                <a:latin typeface="Calibri"/>
              </a:rPr>
              <a:t>•  Fit taxonomy + brand priors</a:t>
            </a:r>
          </a:p>
          <a:p>
            <a:pPr algn="l">
              <a:lnSpc>
                <a:spcPct val="105000"/>
              </a:lnSpc>
              <a:spcBef>
                <a:spcPts val="400"/>
              </a:spcBef>
              <a:spcAft>
                <a:spcPts val="0"/>
              </a:spcAft>
            </a:pPr>
            <a:r>
              <a:rPr sz="850" b="0" i="1">
                <a:solidFill>
                  <a:srgbClr val="5A6672"/>
                </a:solidFill>
                <a:latin typeface="Calibri"/>
              </a:rPr>
              <a:t>Output: 51 brands, 181 held for review</a:t>
            </a:r>
          </a:p>
        </p:txBody>
      </p:sp>
      <p:sp>
        <p:nvSpPr>
          <p:cNvPr id="140" name="Rounded Rectangle 139"/>
          <p:cNvSpPr/>
          <p:nvPr/>
        </p:nvSpPr>
        <p:spPr>
          <a:xfrm>
            <a:off x="2834640" y="1481328"/>
            <a:ext cx="3054096" cy="3291840"/>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5000"/>
              </a:lnSpc>
              <a:spcBef>
                <a:spcPts val="0"/>
              </a:spcBef>
              <a:spcAft>
                <a:spcPts val="500"/>
              </a:spcAft>
            </a:pPr>
            <a:r>
              <a:rPr sz="850" b="1" i="0">
                <a:solidFill>
                  <a:srgbClr val="0E8F69"/>
                </a:solidFill>
                <a:latin typeface="Calibri"/>
              </a:rPr>
              <a:t>PASS 2 · ENRICH EACH ROW</a:t>
            </a:r>
          </a:p>
          <a:p>
            <a:pPr>
              <a:lnSpc>
                <a:spcPct val="100000"/>
              </a:lnSpc>
              <a:spcAft>
                <a:spcPts val="200"/>
              </a:spcAft>
            </a:pPr>
            <a:r>
              <a:rPr sz="900" b="1">
                <a:solidFill>
                  <a:srgbClr val="0E8F69"/>
                </a:solidFill>
                <a:latin typeface="Calibri"/>
              </a:rPr>
              <a:t>1. </a:t>
            </a:r>
            <a:r>
              <a:rPr sz="900" b="1">
                <a:solidFill>
                  <a:srgbClr val="1A1F25"/>
                </a:solidFill>
                <a:latin typeface="Calibri"/>
              </a:rPr>
              <a:t>Clean</a:t>
            </a:r>
            <a:r>
              <a:rPr sz="850">
                <a:solidFill>
                  <a:srgbClr val="5A6672"/>
                </a:solidFill>
                <a:latin typeface="Calibri"/>
              </a:rPr>
              <a:t>  — drop placeholders, expand shorthand</a:t>
            </a:r>
          </a:p>
          <a:p>
            <a:pPr>
              <a:lnSpc>
                <a:spcPct val="100000"/>
              </a:lnSpc>
              <a:spcAft>
                <a:spcPts val="200"/>
              </a:spcAft>
            </a:pPr>
            <a:r>
              <a:rPr sz="900" b="1">
                <a:solidFill>
                  <a:srgbClr val="0E8F69"/>
                </a:solidFill>
                <a:latin typeface="Calibri"/>
              </a:rPr>
              <a:t>2. </a:t>
            </a:r>
            <a:r>
              <a:rPr sz="900" b="1">
                <a:solidFill>
                  <a:srgbClr val="1A1F25"/>
                </a:solidFill>
                <a:latin typeface="Calibri"/>
              </a:rPr>
              <a:t>Resolve entity</a:t>
            </a:r>
            <a:r>
              <a:rPr sz="850">
                <a:solidFill>
                  <a:srgbClr val="5A6672"/>
                </a:solidFill>
                <a:latin typeface="Calibri"/>
              </a:rPr>
              <a:t>  — 6-rung brand ladder</a:t>
            </a:r>
          </a:p>
          <a:p>
            <a:pPr>
              <a:lnSpc>
                <a:spcPct val="100000"/>
              </a:lnSpc>
              <a:spcAft>
                <a:spcPts val="200"/>
              </a:spcAft>
            </a:pPr>
            <a:r>
              <a:rPr sz="900" b="1">
                <a:solidFill>
                  <a:srgbClr val="0E8F69"/>
                </a:solidFill>
                <a:latin typeface="Calibri"/>
              </a:rPr>
              <a:t>3. </a:t>
            </a:r>
            <a:r>
              <a:rPr sz="900" b="1">
                <a:solidFill>
                  <a:srgbClr val="1A1F25"/>
                </a:solidFill>
                <a:latin typeface="Calibri"/>
              </a:rPr>
              <a:t>Classify</a:t>
            </a:r>
            <a:r>
              <a:rPr sz="850">
                <a:solidFill>
                  <a:srgbClr val="5A6672"/>
                </a:solidFill>
                <a:latin typeface="Calibri"/>
              </a:rPr>
              <a:t>  — 87 leaves, both hierarchies</a:t>
            </a:r>
          </a:p>
          <a:p>
            <a:pPr>
              <a:lnSpc>
                <a:spcPct val="100000"/>
              </a:lnSpc>
              <a:spcAft>
                <a:spcPts val="200"/>
              </a:spcAft>
            </a:pPr>
            <a:r>
              <a:rPr sz="900" b="1">
                <a:solidFill>
                  <a:srgbClr val="0E8F69"/>
                </a:solidFill>
                <a:latin typeface="Calibri"/>
              </a:rPr>
              <a:t>4. </a:t>
            </a:r>
            <a:r>
              <a:rPr sz="900" b="1">
                <a:solidFill>
                  <a:srgbClr val="1A1F25"/>
                </a:solidFill>
                <a:latin typeface="Calibri"/>
              </a:rPr>
              <a:t>Fill contract</a:t>
            </a:r>
            <a:r>
              <a:rPr sz="850">
                <a:solidFill>
                  <a:srgbClr val="5A6672"/>
                </a:solidFill>
                <a:latin typeface="Calibri"/>
              </a:rPr>
              <a:t>  — extract with source spans</a:t>
            </a:r>
          </a:p>
          <a:p>
            <a:pPr>
              <a:lnSpc>
                <a:spcPct val="100000"/>
              </a:lnSpc>
              <a:spcAft>
                <a:spcPts val="200"/>
              </a:spcAft>
            </a:pPr>
            <a:r>
              <a:rPr sz="900" b="1">
                <a:solidFill>
                  <a:srgbClr val="0E8F69"/>
                </a:solidFill>
                <a:latin typeface="Calibri"/>
              </a:rPr>
              <a:t>5. </a:t>
            </a:r>
            <a:r>
              <a:rPr sz="900" b="1">
                <a:solidFill>
                  <a:srgbClr val="1A1F25"/>
                </a:solidFill>
                <a:latin typeface="Calibri"/>
              </a:rPr>
              <a:t>Normalise units</a:t>
            </a:r>
            <a:r>
              <a:rPr sz="850">
                <a:solidFill>
                  <a:srgbClr val="5A6672"/>
                </a:solidFill>
                <a:latin typeface="Calibri"/>
              </a:rPr>
              <a:t>  — fractions, approved UOM</a:t>
            </a:r>
          </a:p>
          <a:p>
            <a:pPr>
              <a:lnSpc>
                <a:spcPct val="100000"/>
              </a:lnSpc>
              <a:spcAft>
                <a:spcPts val="200"/>
              </a:spcAft>
            </a:pPr>
            <a:r>
              <a:rPr sz="900" b="1">
                <a:solidFill>
                  <a:srgbClr val="0E8F69"/>
                </a:solidFill>
                <a:latin typeface="Calibri"/>
              </a:rPr>
              <a:t>6. </a:t>
            </a:r>
            <a:r>
              <a:rPr sz="900" b="1">
                <a:solidFill>
                  <a:srgbClr val="1A1F25"/>
                </a:solidFill>
                <a:latin typeface="Calibri"/>
              </a:rPr>
              <a:t>Render 5 channels</a:t>
            </a:r>
            <a:r>
              <a:rPr sz="850">
                <a:solidFill>
                  <a:srgbClr val="5A6672"/>
                </a:solidFill>
                <a:latin typeface="Calibri"/>
              </a:rPr>
              <a:t>  — constraint-solved lengths</a:t>
            </a:r>
          </a:p>
          <a:p>
            <a:pPr>
              <a:lnSpc>
                <a:spcPct val="100000"/>
              </a:lnSpc>
              <a:spcAft>
                <a:spcPts val="200"/>
              </a:spcAft>
            </a:pPr>
            <a:r>
              <a:rPr sz="900" b="1">
                <a:solidFill>
                  <a:srgbClr val="0E8F69"/>
                </a:solidFill>
                <a:latin typeface="Calibri"/>
              </a:rPr>
              <a:t>7. </a:t>
            </a:r>
            <a:r>
              <a:rPr sz="900" b="1">
                <a:solidFill>
                  <a:srgbClr val="1A1F25"/>
                </a:solidFill>
                <a:latin typeface="Calibri"/>
              </a:rPr>
              <a:t>Score + triage</a:t>
            </a:r>
            <a:r>
              <a:rPr sz="850">
                <a:solidFill>
                  <a:srgbClr val="5A6672"/>
                </a:solidFill>
                <a:latin typeface="Calibri"/>
              </a:rPr>
              <a:t>  — confidence from provenance</a:t>
            </a:r>
          </a:p>
        </p:txBody>
      </p:sp>
      <p:sp>
        <p:nvSpPr>
          <p:cNvPr id="141" name="Rounded Rectangle 140"/>
          <p:cNvSpPr/>
          <p:nvPr/>
        </p:nvSpPr>
        <p:spPr>
          <a:xfrm>
            <a:off x="6035040" y="1481328"/>
            <a:ext cx="2724912" cy="3291840"/>
          </a:xfrm>
          <a:prstGeom prst="roundRect">
            <a:avLst>
              <a:gd name="adj" fmla="val 4000"/>
            </a:avLst>
          </a:prstGeom>
          <a:solidFill>
            <a:srgbClr val="F7F9FA"/>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5000"/>
              </a:lnSpc>
              <a:spcBef>
                <a:spcPts val="0"/>
              </a:spcBef>
              <a:spcAft>
                <a:spcPts val="500"/>
              </a:spcAft>
            </a:pPr>
            <a:r>
              <a:rPr sz="850" b="1" i="0">
                <a:solidFill>
                  <a:srgbClr val="0E8F69"/>
                </a:solidFill>
                <a:latin typeface="Calibri"/>
              </a:rPr>
              <a:t>DELIVERABLES</a:t>
            </a:r>
          </a:p>
          <a:p>
            <a:pPr algn="l">
              <a:lnSpc>
                <a:spcPct val="105000"/>
              </a:lnSpc>
              <a:spcBef>
                <a:spcPts val="300"/>
              </a:spcBef>
              <a:spcAft>
                <a:spcPts val="100"/>
              </a:spcAft>
            </a:pPr>
            <a:r>
              <a:rPr sz="950" b="1" i="0">
                <a:solidFill>
                  <a:srgbClr val="1A1F25"/>
                </a:solidFill>
                <a:latin typeface="Calibri"/>
              </a:rPr>
              <a:t>enriched.xlsx</a:t>
            </a:r>
          </a:p>
          <a:p>
            <a:pPr algn="l">
              <a:lnSpc>
                <a:spcPct val="102000"/>
              </a:lnSpc>
              <a:spcBef>
                <a:spcPts val="0"/>
              </a:spcBef>
              <a:spcAft>
                <a:spcPts val="0"/>
              </a:spcAft>
            </a:pPr>
            <a:r>
              <a:rPr sz="850" b="0" i="0">
                <a:solidFill>
                  <a:srgbClr val="5A6672"/>
                </a:solidFill>
                <a:latin typeface="Calibri"/>
              </a:rPr>
              <a:t>252 columns, review rows tinted</a:t>
            </a:r>
          </a:p>
          <a:p>
            <a:pPr algn="l">
              <a:lnSpc>
                <a:spcPct val="105000"/>
              </a:lnSpc>
              <a:spcBef>
                <a:spcPts val="300"/>
              </a:spcBef>
              <a:spcAft>
                <a:spcPts val="100"/>
              </a:spcAft>
            </a:pPr>
            <a:r>
              <a:rPr sz="950" b="1" i="0">
                <a:solidFill>
                  <a:srgbClr val="1A1F25"/>
                </a:solidFill>
                <a:latin typeface="Calibri"/>
              </a:rPr>
              <a:t>provenance.jsonl</a:t>
            </a:r>
          </a:p>
          <a:p>
            <a:pPr algn="l">
              <a:lnSpc>
                <a:spcPct val="102000"/>
              </a:lnSpc>
              <a:spcBef>
                <a:spcPts val="0"/>
              </a:spcBef>
              <a:spcAft>
                <a:spcPts val="0"/>
              </a:spcAft>
            </a:pPr>
            <a:r>
              <a:rPr sz="850" b="0" i="0">
                <a:solidFill>
                  <a:srgbClr val="5A6672"/>
                </a:solidFill>
                <a:latin typeface="Calibri"/>
              </a:rPr>
              <a:t>every cell's evidence</a:t>
            </a:r>
          </a:p>
          <a:p>
            <a:pPr algn="l">
              <a:lnSpc>
                <a:spcPct val="105000"/>
              </a:lnSpc>
              <a:spcBef>
                <a:spcPts val="300"/>
              </a:spcBef>
              <a:spcAft>
                <a:spcPts val="100"/>
              </a:spcAft>
            </a:pPr>
            <a:r>
              <a:rPr sz="950" b="1" i="0">
                <a:solidFill>
                  <a:srgbClr val="1A1F25"/>
                </a:solidFill>
                <a:latin typeface="Calibri"/>
              </a:rPr>
              <a:t>review_queue.csv</a:t>
            </a:r>
          </a:p>
          <a:p>
            <a:pPr algn="l">
              <a:lnSpc>
                <a:spcPct val="102000"/>
              </a:lnSpc>
              <a:spcBef>
                <a:spcPts val="0"/>
              </a:spcBef>
              <a:spcAft>
                <a:spcPts val="0"/>
              </a:spcAft>
            </a:pPr>
            <a:r>
              <a:rPr sz="850" b="0" i="0">
                <a:solidFill>
                  <a:srgbClr val="5A6672"/>
                </a:solidFill>
                <a:latin typeface="Calibri"/>
              </a:rPr>
              <a:t>worst rows first, with reasons</a:t>
            </a:r>
          </a:p>
          <a:p>
            <a:pPr algn="l">
              <a:lnSpc>
                <a:spcPct val="105000"/>
              </a:lnSpc>
              <a:spcBef>
                <a:spcPts val="300"/>
              </a:spcBef>
              <a:spcAft>
                <a:spcPts val="100"/>
              </a:spcAft>
            </a:pPr>
            <a:r>
              <a:rPr sz="950" b="1" i="0">
                <a:solidFill>
                  <a:srgbClr val="1A1F25"/>
                </a:solidFill>
                <a:latin typeface="Calibri"/>
              </a:rPr>
              <a:t>report.md</a:t>
            </a:r>
          </a:p>
          <a:p>
            <a:pPr algn="l">
              <a:lnSpc>
                <a:spcPct val="102000"/>
              </a:lnSpc>
              <a:spcBef>
                <a:spcPts val="0"/>
              </a:spcBef>
              <a:spcAft>
                <a:spcPts val="0"/>
              </a:spcAft>
            </a:pPr>
            <a:r>
              <a:rPr sz="850" b="0" i="0">
                <a:solidFill>
                  <a:srgbClr val="5A6672"/>
                </a:solidFill>
                <a:latin typeface="Calibri"/>
              </a:rPr>
              <a:t>compliance + evaluation</a:t>
            </a:r>
          </a:p>
          <a:p>
            <a:pPr algn="l">
              <a:lnSpc>
                <a:spcPct val="105000"/>
              </a:lnSpc>
              <a:spcBef>
                <a:spcPts val="600"/>
              </a:spcBef>
              <a:spcAft>
                <a:spcPts val="0"/>
              </a:spcAft>
            </a:pPr>
            <a:r>
              <a:rPr sz="800" b="0" i="1">
                <a:solidFill>
                  <a:srgbClr val="5A6672"/>
                </a:solidFill>
                <a:latin typeface="Calibri"/>
              </a:rPr>
              <a:t>Optional layers attach at step 4 and are never required for a complete run.</a:t>
            </a:r>
          </a:p>
        </p:txBody>
      </p:sp>
      <p:sp>
        <p:nvSpPr>
          <p:cNvPr id="142" name="Right Arrow 141"/>
          <p:cNvSpPr/>
          <p:nvPr/>
        </p:nvSpPr>
        <p:spPr>
          <a:xfrm>
            <a:off x="2542032" y="3017520"/>
            <a:ext cx="219456" cy="146304"/>
          </a:xfrm>
          <a:prstGeom prst="rightArrow">
            <a:avLst/>
          </a:prstGeom>
          <a:solidFill>
            <a:srgbClr val="B6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ight Arrow 142"/>
          <p:cNvSpPr/>
          <p:nvPr/>
        </p:nvSpPr>
        <p:spPr>
          <a:xfrm>
            <a:off x="5742432" y="3017520"/>
            <a:ext cx="219456" cy="146304"/>
          </a:xfrm>
          <a:prstGeom prst="rightArrow">
            <a:avLst/>
          </a:prstGeom>
          <a:solidFill>
            <a:srgbClr val="B6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33"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49" name="Google Shape;149;p33"/>
          <p:cNvSpPr txBox="1"/>
          <p:nvPr/>
        </p:nvSpPr>
        <p:spPr>
          <a:xfrm>
            <a:off x="384048" y="658368"/>
            <a:ext cx="8375904" cy="56692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sz="2200" b="1">
                <a:solidFill>
                  <a:srgbClr val="1A1F25"/>
                </a:solidFill>
                <a:latin typeface="Calibri"/>
              </a:rPr>
              <a:t>Architecture</a:t>
            </a:r>
            <a:endParaRPr b="0" i="0" sz="1800" u="none" cap="none" strike="noStrike">
              <a:solidFill>
                <a:srgbClr val="000000"/>
              </a:solidFill>
              <a:latin typeface="Google Sans"/>
              <a:ea typeface="Google Sans"/>
              <a:cs typeface="Google Sans"/>
              <a:sym typeface="Google Sans"/>
            </a:endParaRPr>
          </a:p>
        </p:txBody>
      </p:sp>
      <p:sp>
        <p:nvSpPr>
          <p:cNvPr id="150" name="TextBox 149"/>
          <p:cNvSpPr txBox="1"/>
          <p:nvPr/>
        </p:nvSpPr>
        <p:spPr>
          <a:xfrm>
            <a:off x="384048" y="1225296"/>
            <a:ext cx="8375904" cy="310896"/>
          </a:xfrm>
          <a:prstGeom prst="rect">
            <a:avLst/>
          </a:prstGeom>
          <a:noFill/>
        </p:spPr>
        <p:txBody>
          <a:bodyPr wrap="square" anchor="t" lIns="0" rIns="0" tIns="0" bIns="0">
            <a:spAutoFit/>
          </a:bodyPr>
          <a:lstStyle/>
          <a:p>
            <a:pPr algn="l">
              <a:lnSpc>
                <a:spcPct val="105000"/>
              </a:lnSpc>
              <a:spcBef>
                <a:spcPts val="0"/>
              </a:spcBef>
              <a:spcAft>
                <a:spcPts val="0"/>
              </a:spcAft>
            </a:pPr>
            <a:r>
              <a:rPr sz="1100" b="0" i="0">
                <a:solidFill>
                  <a:srgbClr val="5A6672"/>
                </a:solidFill>
                <a:latin typeface="Calibri"/>
              </a:rPr>
              <a:t>Deterministic core, optional AI on top. The core is complete on its own — which is why it cannot fail on an unseen dataset.</a:t>
            </a:r>
          </a:p>
        </p:txBody>
      </p:sp>
      <p:sp>
        <p:nvSpPr>
          <p:cNvPr id="151" name="Rounded Rectangle 150"/>
          <p:cNvSpPr/>
          <p:nvPr/>
        </p:nvSpPr>
        <p:spPr>
          <a:xfrm>
            <a:off x="384048" y="1517904"/>
            <a:ext cx="8375904" cy="969264"/>
          </a:xfrm>
          <a:prstGeom prst="roundRect">
            <a:avLst>
              <a:gd name="adj" fmla="val 4000"/>
            </a:avLst>
          </a:prstGeom>
          <a:solidFill>
            <a:srgbClr val="FDF6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5000"/>
              </a:lnSpc>
              <a:spcBef>
                <a:spcPts val="0"/>
              </a:spcBef>
              <a:spcAft>
                <a:spcPts val="400"/>
              </a:spcAft>
            </a:pPr>
            <a:r>
              <a:rPr sz="850" b="1" i="0">
                <a:solidFill>
                  <a:srgbClr val="B47A0A"/>
                </a:solidFill>
                <a:latin typeface="Calibri"/>
              </a:rPr>
              <a:t>OPTIONAL · AI ACCELERATION</a:t>
            </a:r>
          </a:p>
          <a:p>
            <a:pPr algn="l">
              <a:lnSpc>
                <a:spcPct val="105000"/>
              </a:lnSpc>
              <a:spcBef>
                <a:spcPts val="0"/>
              </a:spcBef>
              <a:spcAft>
                <a:spcPts val="200"/>
              </a:spcAft>
            </a:pPr>
            <a:r>
              <a:rPr sz="950" b="0" i="0">
                <a:solidFill>
                  <a:srgbClr val="1A1F25"/>
                </a:solidFill>
                <a:latin typeface="Calibri"/>
              </a:rPr>
              <a:t>NVIDIA NIM proposals — validated against the vocabulary, labelled, always routed to review</a:t>
            </a:r>
          </a:p>
          <a:p>
            <a:pPr algn="l">
              <a:lnSpc>
                <a:spcPct val="105000"/>
              </a:lnSpc>
              <a:spcBef>
                <a:spcPts val="0"/>
              </a:spcBef>
              <a:spcAft>
                <a:spcPts val="200"/>
              </a:spcAft>
            </a:pPr>
            <a:r>
              <a:rPr sz="950" b="0" i="0">
                <a:solidFill>
                  <a:srgbClr val="1A1F25"/>
                </a:solidFill>
                <a:latin typeface="Calibri"/>
              </a:rPr>
              <a:t>Distilled local models — classifier + span tagger, CPU inference, zero marginal cost</a:t>
            </a:r>
          </a:p>
        </p:txBody>
      </p:sp>
      <p:sp>
        <p:nvSpPr>
          <p:cNvPr id="152" name="Rounded Rectangle 151"/>
          <p:cNvSpPr/>
          <p:nvPr/>
        </p:nvSpPr>
        <p:spPr>
          <a:xfrm>
            <a:off x="384048" y="2578608"/>
            <a:ext cx="8375904" cy="969264"/>
          </a:xfrm>
          <a:prstGeom prst="roundRect">
            <a:avLst>
              <a:gd name="adj" fmla="val 4000"/>
            </a:avLst>
          </a:prstGeom>
          <a:solidFill>
            <a:srgbClr val="F1F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5000"/>
              </a:lnSpc>
              <a:spcBef>
                <a:spcPts val="0"/>
              </a:spcBef>
              <a:spcAft>
                <a:spcPts val="400"/>
              </a:spcAft>
            </a:pPr>
            <a:r>
              <a:rPr sz="850" b="1" i="0">
                <a:solidFill>
                  <a:srgbClr val="0E8F69"/>
                </a:solidFill>
                <a:latin typeface="Calibri"/>
              </a:rPr>
              <a:t>CORE ENGINE · DETERMINISTIC, OFFLINE</a:t>
            </a:r>
          </a:p>
          <a:p>
            <a:pPr algn="l">
              <a:lnSpc>
                <a:spcPct val="105000"/>
              </a:lnSpc>
              <a:spcBef>
                <a:spcPts val="0"/>
              </a:spcBef>
              <a:spcAft>
                <a:spcPts val="200"/>
              </a:spcAft>
            </a:pPr>
            <a:r>
              <a:rPr sz="950" b="0" i="0">
                <a:solidFill>
                  <a:srgbClr val="1A1F25"/>
                </a:solidFill>
                <a:latin typeface="Calibri"/>
              </a:rPr>
              <a:t>induce · entity · taxonomy · attributes · extract · units · render · confidence</a:t>
            </a:r>
          </a:p>
          <a:p>
            <a:pPr algn="l">
              <a:lnSpc>
                <a:spcPct val="105000"/>
              </a:lnSpc>
              <a:spcBef>
                <a:spcPts val="0"/>
              </a:spcBef>
              <a:spcAft>
                <a:spcPts val="200"/>
              </a:spcAft>
            </a:pPr>
            <a:r>
              <a:rPr sz="950" b="0" i="0">
                <a:solidFill>
                  <a:srgbClr val="1A1F25"/>
                </a:solidFill>
                <a:latin typeface="Calibri"/>
              </a:rPr>
              <a:t>Vocabulary induction → evidence ladder → contract fill → constraint-solved generation</a:t>
            </a:r>
          </a:p>
        </p:txBody>
      </p:sp>
      <p:sp>
        <p:nvSpPr>
          <p:cNvPr id="153" name="Rounded Rectangle 152"/>
          <p:cNvSpPr/>
          <p:nvPr/>
        </p:nvSpPr>
        <p:spPr>
          <a:xfrm>
            <a:off x="384048" y="3639311"/>
            <a:ext cx="8375904" cy="969264"/>
          </a:xfrm>
          <a:prstGeom prst="roundRect">
            <a:avLst>
              <a:gd name="adj" fmla="val 4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5000"/>
              </a:lnSpc>
              <a:spcBef>
                <a:spcPts val="0"/>
              </a:spcBef>
              <a:spcAft>
                <a:spcPts val="400"/>
              </a:spcAft>
            </a:pPr>
            <a:r>
              <a:rPr sz="850" b="1" i="0">
                <a:solidFill>
                  <a:srgbClr val="5A6672"/>
                </a:solidFill>
                <a:latin typeface="Calibri"/>
              </a:rPr>
              <a:t>FOUNDATION</a:t>
            </a:r>
          </a:p>
          <a:p>
            <a:pPr algn="l">
              <a:lnSpc>
                <a:spcPct val="105000"/>
              </a:lnSpc>
              <a:spcBef>
                <a:spcPts val="0"/>
              </a:spcBef>
              <a:spcAft>
                <a:spcPts val="200"/>
              </a:spcAft>
            </a:pPr>
            <a:r>
              <a:rPr sz="950" b="0" i="0">
                <a:solidFill>
                  <a:srgbClr val="1A1F25"/>
                </a:solidFill>
                <a:latin typeface="Calibri"/>
              </a:rPr>
              <a:t>schema — 252 headers bound from the client sheet at runtime</a:t>
            </a:r>
          </a:p>
          <a:p>
            <a:pPr algn="l">
              <a:lnSpc>
                <a:spcPct val="105000"/>
              </a:lnSpc>
              <a:spcBef>
                <a:spcPts val="0"/>
              </a:spcBef>
              <a:spcAft>
                <a:spcPts val="200"/>
              </a:spcAft>
            </a:pPr>
            <a:r>
              <a:rPr sz="950" b="0" i="0">
                <a:solidFill>
                  <a:srgbClr val="1A1F25"/>
                </a:solidFill>
                <a:latin typeface="Calibri"/>
              </a:rPr>
              <a:t>provenance — every cell carries mechanism, rule, confidence, source span</a:t>
            </a:r>
          </a:p>
        </p:txBody>
      </p:sp>
      <p:sp>
        <p:nvSpPr>
          <p:cNvPr id="154" name="TextBox 153"/>
          <p:cNvSpPr txBox="1"/>
          <p:nvPr/>
        </p:nvSpPr>
        <p:spPr>
          <a:xfrm>
            <a:off x="384048" y="4718304"/>
            <a:ext cx="8375904" cy="292608"/>
          </a:xfrm>
          <a:prstGeom prst="rect">
            <a:avLst/>
          </a:prstGeom>
          <a:noFill/>
        </p:spPr>
        <p:txBody>
          <a:bodyPr wrap="square" anchor="t" lIns="0" rIns="0" tIns="0" bIns="0">
            <a:spAutoFit/>
          </a:bodyPr>
          <a:lstStyle/>
          <a:p>
            <a:pPr>
              <a:lnSpc>
                <a:spcPct val="105000"/>
              </a:lnSpc>
              <a:spcBef>
                <a:spcPts val="0"/>
              </a:spcBef>
              <a:spcAft>
                <a:spcPts val="0"/>
              </a:spcAft>
            </a:pPr>
            <a:r>
              <a:rPr sz="900" b="1">
                <a:solidFill>
                  <a:srgbClr val="5A6672"/>
                </a:solidFill>
                <a:latin typeface="Calibri"/>
              </a:rPr>
              <a:t>Data flow:  </a:t>
            </a:r>
            <a:r>
              <a:rPr sz="900" b="0">
                <a:solidFill>
                  <a:srgbClr val="1A1F25"/>
                </a:solidFill>
                <a:latin typeface="Calibri"/>
              </a:rPr>
              <a:t>6-column CSV/XLSX  →  learn  →  enrich  →  252-column delivery sheet + provenance sidecar + review queue + compliance report</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34"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55" name="Google Shape;155;p34"/>
          <p:cNvSpPr txBox="1"/>
          <p:nvPr/>
        </p:nvSpPr>
        <p:spPr>
          <a:xfrm>
            <a:off x="384048" y="658368"/>
            <a:ext cx="8375904" cy="56692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sz="2200" b="1">
                <a:solidFill>
                  <a:srgbClr val="1A1F25"/>
                </a:solidFill>
                <a:latin typeface="Calibri"/>
              </a:rPr>
              <a:t>Technologies used in the solution</a:t>
            </a:r>
            <a:endParaRPr b="0" i="0" sz="1200" u="none" cap="none" strike="noStrike">
              <a:solidFill>
                <a:srgbClr val="000000"/>
              </a:solidFill>
              <a:latin typeface="Google Sans"/>
              <a:ea typeface="Google Sans"/>
              <a:cs typeface="Google Sans"/>
              <a:sym typeface="Google Sans"/>
            </a:endParaRPr>
          </a:p>
        </p:txBody>
      </p:sp>
      <p:sp>
        <p:nvSpPr>
          <p:cNvPr id="156" name="Rounded Rectangle 155"/>
          <p:cNvSpPr/>
          <p:nvPr/>
        </p:nvSpPr>
        <p:spPr>
          <a:xfrm>
            <a:off x="384048" y="1481328"/>
            <a:ext cx="8375904" cy="512064"/>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100"/>
              </a:spcAft>
            </a:pPr>
            <a:r>
              <a:rPr sz="950" b="1">
                <a:solidFill>
                  <a:srgbClr val="0E8F69"/>
                </a:solidFill>
                <a:latin typeface="Calibri"/>
              </a:rPr>
              <a:t>Core   </a:t>
            </a:r>
            <a:r>
              <a:rPr sz="950" b="0">
                <a:solidFill>
                  <a:srgbClr val="1A1F25"/>
                </a:solidFill>
                <a:latin typeface="Calibri"/>
              </a:rPr>
              <a:t>Python 3.12 · pandas · RapidFuzz · XlsxWriter · openpyxl</a:t>
            </a:r>
          </a:p>
          <a:p>
            <a:pPr algn="l">
              <a:lnSpc>
                <a:spcPct val="100000"/>
              </a:lnSpc>
              <a:spcBef>
                <a:spcPts val="0"/>
              </a:spcBef>
              <a:spcAft>
                <a:spcPts val="0"/>
              </a:spcAft>
            </a:pPr>
            <a:r>
              <a:rPr sz="819" b="0" i="0">
                <a:solidFill>
                  <a:srgbClr val="5A6672"/>
                </a:solidFill>
                <a:latin typeface="Calibri"/>
              </a:rPr>
              <a:t>13 purpose-built modules, no ML framework in the critical path</a:t>
            </a:r>
          </a:p>
        </p:txBody>
      </p:sp>
      <p:sp>
        <p:nvSpPr>
          <p:cNvPr id="157" name="Rounded Rectangle 156"/>
          <p:cNvSpPr/>
          <p:nvPr/>
        </p:nvSpPr>
        <p:spPr>
          <a:xfrm>
            <a:off x="384048" y="2048256"/>
            <a:ext cx="8375904" cy="512064"/>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100"/>
              </a:spcAft>
            </a:pPr>
            <a:r>
              <a:rPr sz="950" b="1">
                <a:solidFill>
                  <a:srgbClr val="0E8F69"/>
                </a:solidFill>
                <a:latin typeface="Calibri"/>
              </a:rPr>
              <a:t>NLP / IE   </a:t>
            </a:r>
            <a:r>
              <a:rPr sz="950" b="0">
                <a:solidFill>
                  <a:srgbClr val="1A1F25"/>
                </a:solidFill>
                <a:latin typeface="Calibri"/>
              </a:rPr>
              <a:t>Rule-based information extraction · group-conditional TF-IDF induction · fuzzy entity resolution · BIO span labelling</a:t>
            </a:r>
          </a:p>
          <a:p>
            <a:pPr algn="l">
              <a:lnSpc>
                <a:spcPct val="100000"/>
              </a:lnSpc>
              <a:spcBef>
                <a:spcPts val="0"/>
              </a:spcBef>
              <a:spcAft>
                <a:spcPts val="0"/>
              </a:spcAft>
            </a:pPr>
            <a:r>
              <a:rPr sz="819" b="0" i="0">
                <a:solidFill>
                  <a:srgbClr val="5A6672"/>
                </a:solidFill>
                <a:latin typeface="Calibri"/>
              </a:rPr>
              <a:t>Constraint satisfaction for the length-bounded channels</a:t>
            </a:r>
          </a:p>
        </p:txBody>
      </p:sp>
      <p:sp>
        <p:nvSpPr>
          <p:cNvPr id="158" name="Rounded Rectangle 157"/>
          <p:cNvSpPr/>
          <p:nvPr/>
        </p:nvSpPr>
        <p:spPr>
          <a:xfrm>
            <a:off x="384048" y="2615184"/>
            <a:ext cx="8375904" cy="512064"/>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100"/>
              </a:spcAft>
            </a:pPr>
            <a:r>
              <a:rPr sz="950" b="1">
                <a:solidFill>
                  <a:srgbClr val="0E8F69"/>
                </a:solidFill>
                <a:latin typeface="Calibri"/>
              </a:rPr>
              <a:t>Generative AI (optional)   </a:t>
            </a:r>
            <a:r>
              <a:rPr sz="950" b="0">
                <a:solidFill>
                  <a:srgbClr val="1A1F25"/>
                </a:solidFill>
                <a:latin typeface="Calibri"/>
              </a:rPr>
              <a:t>NVIDIA NIM — OpenAI-compatible endpoint, Llama 3.3 70B</a:t>
            </a:r>
          </a:p>
          <a:p>
            <a:pPr algn="l">
              <a:lnSpc>
                <a:spcPct val="100000"/>
              </a:lnSpc>
              <a:spcBef>
                <a:spcPts val="0"/>
              </a:spcBef>
              <a:spcAft>
                <a:spcPts val="0"/>
              </a:spcAft>
            </a:pPr>
            <a:r>
              <a:rPr sz="819" b="0" i="0">
                <a:solidFill>
                  <a:srgbClr val="5A6672"/>
                </a:solidFill>
                <a:latin typeface="Calibri"/>
              </a:rPr>
              <a:t>Schema-constrained proposals, validated and cached; never on the critical path</a:t>
            </a:r>
          </a:p>
        </p:txBody>
      </p:sp>
      <p:sp>
        <p:nvSpPr>
          <p:cNvPr id="159" name="Rounded Rectangle 158"/>
          <p:cNvSpPr/>
          <p:nvPr/>
        </p:nvSpPr>
        <p:spPr>
          <a:xfrm>
            <a:off x="384048" y="3182112"/>
            <a:ext cx="8375904" cy="512064"/>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100"/>
              </a:spcAft>
            </a:pPr>
            <a:r>
              <a:rPr sz="950" b="1">
                <a:solidFill>
                  <a:srgbClr val="0E8F69"/>
                </a:solidFill>
                <a:latin typeface="Calibri"/>
              </a:rPr>
              <a:t>ML (optional)   </a:t>
            </a:r>
            <a:r>
              <a:rPr sz="950" b="0">
                <a:solidFill>
                  <a:srgbClr val="1A1F25"/>
                </a:solidFill>
                <a:latin typeface="Calibri"/>
              </a:rPr>
              <a:t>PyTorch · Hugging Face Transformers · DistilBERT</a:t>
            </a:r>
          </a:p>
          <a:p>
            <a:pPr algn="l">
              <a:lnSpc>
                <a:spcPct val="100000"/>
              </a:lnSpc>
              <a:spcBef>
                <a:spcPts val="0"/>
              </a:spcBef>
              <a:spcAft>
                <a:spcPts val="0"/>
              </a:spcAft>
            </a:pPr>
            <a:r>
              <a:rPr sz="819" b="0" i="0">
                <a:solidFill>
                  <a:srgbClr val="5A6672"/>
                </a:solidFill>
                <a:latin typeface="Calibri"/>
              </a:rPr>
              <a:t>Rule-engine distillation: 77-class classifier + 38-type span tagger</a:t>
            </a:r>
          </a:p>
        </p:txBody>
      </p:sp>
      <p:sp>
        <p:nvSpPr>
          <p:cNvPr id="160" name="Rounded Rectangle 159"/>
          <p:cNvSpPr/>
          <p:nvPr/>
        </p:nvSpPr>
        <p:spPr>
          <a:xfrm>
            <a:off x="384048" y="3749040"/>
            <a:ext cx="8375904" cy="512064"/>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100"/>
              </a:spcAft>
            </a:pPr>
            <a:r>
              <a:rPr sz="950" b="1">
                <a:solidFill>
                  <a:srgbClr val="0E8F69"/>
                </a:solidFill>
                <a:latin typeface="Calibri"/>
              </a:rPr>
              <a:t>Interface   </a:t>
            </a:r>
            <a:r>
              <a:rPr sz="950" b="0">
                <a:solidFill>
                  <a:srgbClr val="1A1F25"/>
                </a:solidFill>
                <a:latin typeface="Calibri"/>
              </a:rPr>
              <a:t>Streamlit · custom CSS</a:t>
            </a:r>
          </a:p>
          <a:p>
            <a:pPr algn="l">
              <a:lnSpc>
                <a:spcPct val="100000"/>
              </a:lnSpc>
              <a:spcBef>
                <a:spcPts val="0"/>
              </a:spcBef>
              <a:spcAft>
                <a:spcPts val="0"/>
              </a:spcAft>
            </a:pPr>
            <a:r>
              <a:rPr sz="819" b="0" i="0">
                <a:solidFill>
                  <a:srgbClr val="5A6672"/>
                </a:solidFill>
                <a:latin typeface="Calibri"/>
              </a:rPr>
              <a:t>Five views: enrich, compliance, review queue, vocabulary, export</a:t>
            </a:r>
          </a:p>
        </p:txBody>
      </p:sp>
      <p:sp>
        <p:nvSpPr>
          <p:cNvPr id="161" name="Rounded Rectangle 160"/>
          <p:cNvSpPr/>
          <p:nvPr/>
        </p:nvSpPr>
        <p:spPr>
          <a:xfrm>
            <a:off x="384048" y="4315968"/>
            <a:ext cx="8375904" cy="512064"/>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100"/>
              </a:spcAft>
            </a:pPr>
            <a:r>
              <a:rPr sz="950" b="1">
                <a:solidFill>
                  <a:srgbClr val="0E8F69"/>
                </a:solidFill>
                <a:latin typeface="Calibri"/>
              </a:rPr>
              <a:t>Engineering   </a:t>
            </a:r>
            <a:r>
              <a:rPr sz="950" b="0">
                <a:solidFill>
                  <a:srgbClr val="1A1F25"/>
                </a:solidFill>
                <a:latin typeface="Calibri"/>
              </a:rPr>
              <a:t>pytest · git · deterministic seeds</a:t>
            </a:r>
          </a:p>
          <a:p>
            <a:pPr algn="l">
              <a:lnSpc>
                <a:spcPct val="100000"/>
              </a:lnSpc>
              <a:spcBef>
                <a:spcPts val="0"/>
              </a:spcBef>
              <a:spcAft>
                <a:spcPts val="0"/>
              </a:spcAft>
            </a:pPr>
            <a:r>
              <a:rPr sz="819" b="0" i="0">
                <a:solidFill>
                  <a:srgbClr val="5A6672"/>
                </a:solidFill>
                <a:latin typeface="Calibri"/>
              </a:rPr>
              <a:t>Gold-row exact-match tests; every published metric reproducible from the CLI</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36"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67" name="Google Shape;167;p36"/>
          <p:cNvSpPr txBox="1"/>
          <p:nvPr/>
        </p:nvSpPr>
        <p:spPr>
          <a:xfrm>
            <a:off x="384048" y="658368"/>
            <a:ext cx="8375904" cy="56692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sz="2200" b="1">
                <a:solidFill>
                  <a:srgbClr val="1A1F25"/>
                </a:solidFill>
                <a:latin typeface="Calibri"/>
              </a:rPr>
              <a:t>Snapshots of the MVP</a:t>
            </a:r>
            <a:endParaRPr b="0" i="0" sz="1800" u="none" cap="none" strike="noStrike">
              <a:solidFill>
                <a:srgbClr val="000000"/>
              </a:solidFill>
              <a:latin typeface="Google Sans"/>
              <a:ea typeface="Google Sans"/>
              <a:cs typeface="Google Sans"/>
              <a:sym typeface="Google Sans"/>
            </a:endParaRPr>
          </a:p>
        </p:txBody>
      </p:sp>
      <p:sp>
        <p:nvSpPr>
          <p:cNvPr id="168" name="TextBox 167"/>
          <p:cNvSpPr txBox="1"/>
          <p:nvPr/>
        </p:nvSpPr>
        <p:spPr>
          <a:xfrm>
            <a:off x="384048" y="1225296"/>
            <a:ext cx="8375904" cy="310896"/>
          </a:xfrm>
          <a:prstGeom prst="rect">
            <a:avLst/>
          </a:prstGeom>
          <a:noFill/>
        </p:spPr>
        <p:txBody>
          <a:bodyPr wrap="square" anchor="t" lIns="0" rIns="0" tIns="0" bIns="0">
            <a:spAutoFit/>
          </a:bodyPr>
          <a:lstStyle/>
          <a:p>
            <a:pPr algn="l">
              <a:lnSpc>
                <a:spcPct val="105000"/>
              </a:lnSpc>
              <a:spcBef>
                <a:spcPts val="0"/>
              </a:spcBef>
              <a:spcAft>
                <a:spcPts val="0"/>
              </a:spcAft>
            </a:pPr>
            <a:r>
              <a:rPr sz="1100" b="0" i="0">
                <a:solidFill>
                  <a:srgbClr val="5A6672"/>
                </a:solidFill>
                <a:latin typeface="Calibri"/>
              </a:rPr>
              <a:t>Live application — not mockups. Every figure on screen is computed at load time.</a:t>
            </a:r>
          </a:p>
        </p:txBody>
      </p:sp>
      <p:pic>
        <p:nvPicPr>
          <p:cNvPr id="169" name="Picture 168" descr="enrich.png"/>
          <p:cNvPicPr>
            <a:picLocks noChangeAspect="1"/>
          </p:cNvPicPr>
          <p:nvPr/>
        </p:nvPicPr>
        <p:blipFill>
          <a:blip r:embed="rId4"/>
          <a:stretch>
            <a:fillRect/>
          </a:stretch>
        </p:blipFill>
        <p:spPr>
          <a:xfrm>
            <a:off x="384048" y="1481328"/>
            <a:ext cx="2688336" cy="1680210"/>
          </a:xfrm>
          <a:prstGeom prst="rect">
            <a:avLst/>
          </a:prstGeom>
        </p:spPr>
      </p:pic>
      <p:sp>
        <p:nvSpPr>
          <p:cNvPr id="170" name="TextBox 169"/>
          <p:cNvSpPr txBox="1"/>
          <p:nvPr/>
        </p:nvSpPr>
        <p:spPr>
          <a:xfrm>
            <a:off x="384048" y="3346704"/>
            <a:ext cx="2688336" cy="548640"/>
          </a:xfrm>
          <a:prstGeom prst="rect">
            <a:avLst/>
          </a:prstGeom>
          <a:noFill/>
        </p:spPr>
        <p:txBody>
          <a:bodyPr wrap="square" anchor="t" lIns="0" rIns="0" tIns="0" bIns="0">
            <a:spAutoFit/>
          </a:bodyPr>
          <a:lstStyle/>
          <a:p>
            <a:pPr algn="l">
              <a:lnSpc>
                <a:spcPct val="105000"/>
              </a:lnSpc>
              <a:spcBef>
                <a:spcPts val="0"/>
              </a:spcBef>
              <a:spcAft>
                <a:spcPts val="0"/>
              </a:spcAft>
            </a:pPr>
            <a:r>
              <a:rPr sz="850" b="0" i="0">
                <a:solidFill>
                  <a:srgbClr val="5A6672"/>
                </a:solidFill>
                <a:latin typeface="Calibri"/>
              </a:rPr>
              <a:t>Before / after with per-cell provenance</a:t>
            </a:r>
          </a:p>
        </p:txBody>
      </p:sp>
      <p:pic>
        <p:nvPicPr>
          <p:cNvPr id="171" name="Picture 170" descr="attributes.png"/>
          <p:cNvPicPr>
            <a:picLocks noChangeAspect="1"/>
          </p:cNvPicPr>
          <p:nvPr/>
        </p:nvPicPr>
        <p:blipFill>
          <a:blip r:embed="rId5"/>
          <a:stretch>
            <a:fillRect/>
          </a:stretch>
        </p:blipFill>
        <p:spPr>
          <a:xfrm>
            <a:off x="3227832" y="1481328"/>
            <a:ext cx="2688336" cy="1680210"/>
          </a:xfrm>
          <a:prstGeom prst="rect">
            <a:avLst/>
          </a:prstGeom>
        </p:spPr>
      </p:pic>
      <p:sp>
        <p:nvSpPr>
          <p:cNvPr id="172" name="TextBox 171"/>
          <p:cNvSpPr txBox="1"/>
          <p:nvPr/>
        </p:nvSpPr>
        <p:spPr>
          <a:xfrm>
            <a:off x="3227832" y="3346704"/>
            <a:ext cx="2688336" cy="548640"/>
          </a:xfrm>
          <a:prstGeom prst="rect">
            <a:avLst/>
          </a:prstGeom>
          <a:noFill/>
        </p:spPr>
        <p:txBody>
          <a:bodyPr wrap="square" anchor="t" lIns="0" rIns="0" tIns="0" bIns="0">
            <a:spAutoFit/>
          </a:bodyPr>
          <a:lstStyle/>
          <a:p>
            <a:pPr algn="l">
              <a:lnSpc>
                <a:spcPct val="105000"/>
              </a:lnSpc>
              <a:spcBef>
                <a:spcPts val="0"/>
              </a:spcBef>
              <a:spcAft>
                <a:spcPts val="0"/>
              </a:spcAft>
            </a:pPr>
            <a:r>
              <a:rPr sz="850" b="0" i="0">
                <a:solidFill>
                  <a:srgbClr val="5A6672"/>
                </a:solidFill>
                <a:latin typeface="Calibri"/>
              </a:rPr>
              <a:t>Attribute block: every value shows the characters it was read from</a:t>
            </a:r>
          </a:p>
        </p:txBody>
      </p:sp>
      <p:pic>
        <p:nvPicPr>
          <p:cNvPr id="173" name="Picture 172" descr="compliance.png"/>
          <p:cNvPicPr>
            <a:picLocks noChangeAspect="1"/>
          </p:cNvPicPr>
          <p:nvPr/>
        </p:nvPicPr>
        <p:blipFill>
          <a:blip r:embed="rId6"/>
          <a:stretch>
            <a:fillRect/>
          </a:stretch>
        </p:blipFill>
        <p:spPr>
          <a:xfrm>
            <a:off x="6071616" y="1481328"/>
            <a:ext cx="2688336" cy="1680210"/>
          </a:xfrm>
          <a:prstGeom prst="rect">
            <a:avLst/>
          </a:prstGeom>
        </p:spPr>
      </p:pic>
      <p:sp>
        <p:nvSpPr>
          <p:cNvPr id="174" name="TextBox 173"/>
          <p:cNvSpPr txBox="1"/>
          <p:nvPr/>
        </p:nvSpPr>
        <p:spPr>
          <a:xfrm>
            <a:off x="6071616" y="3346704"/>
            <a:ext cx="2688336" cy="548640"/>
          </a:xfrm>
          <a:prstGeom prst="rect">
            <a:avLst/>
          </a:prstGeom>
          <a:noFill/>
        </p:spPr>
        <p:txBody>
          <a:bodyPr wrap="square" anchor="t" lIns="0" rIns="0" tIns="0" bIns="0">
            <a:spAutoFit/>
          </a:bodyPr>
          <a:lstStyle/>
          <a:p>
            <a:pPr algn="l">
              <a:lnSpc>
                <a:spcPct val="105000"/>
              </a:lnSpc>
              <a:spcBef>
                <a:spcPts val="0"/>
              </a:spcBef>
              <a:spcAft>
                <a:spcPts val="0"/>
              </a:spcAft>
            </a:pPr>
            <a:r>
              <a:rPr sz="850" b="0" i="0">
                <a:solidFill>
                  <a:srgbClr val="5A6672"/>
                </a:solidFill>
                <a:latin typeface="Calibri"/>
              </a:rPr>
              <a:t>Self-measured compliance and gold-row accuracy</a:t>
            </a:r>
          </a:p>
        </p:txBody>
      </p:sp>
      <p:sp>
        <p:nvSpPr>
          <p:cNvPr id="175" name="TextBox 174"/>
          <p:cNvSpPr txBox="1"/>
          <p:nvPr/>
        </p:nvSpPr>
        <p:spPr>
          <a:xfrm>
            <a:off x="384048" y="4078224"/>
            <a:ext cx="8375904" cy="822960"/>
          </a:xfrm>
          <a:prstGeom prst="rect">
            <a:avLst/>
          </a:prstGeom>
          <a:noFill/>
        </p:spPr>
        <p:txBody>
          <a:bodyPr wrap="square" anchor="t" lIns="0" rIns="0" tIns="0" bIns="0">
            <a:spAutoFit/>
          </a:bodyPr>
          <a:lstStyle/>
          <a:p>
            <a:pPr>
              <a:lnSpc>
                <a:spcPct val="112000"/>
              </a:lnSpc>
              <a:spcBef>
                <a:spcPts val="0"/>
              </a:spcBef>
              <a:spcAft>
                <a:spcPts val="0"/>
              </a:spcAft>
            </a:pPr>
            <a:r>
              <a:rPr sz="1000" b="1">
                <a:solidFill>
                  <a:srgbClr val="0E8F69"/>
                </a:solidFill>
                <a:latin typeface="Calibri"/>
              </a:rPr>
              <a:t>The middle panel is the differentiator. </a:t>
            </a:r>
            <a:r>
              <a:rPr sz="1000" b="0">
                <a:solidFill>
                  <a:srgbClr val="1A1F25"/>
                </a:solidFill>
                <a:latin typeface="Calibri"/>
              </a:rPr>
              <a:t>The “Read from” column shows, for every extracted attribute, the exact substring of the raw description it came from — alongside the mechanism that produced it and its confidence. Blank cells state why they are blank.</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37"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73" name="Google Shape;173;p37"/>
          <p:cNvSpPr txBox="1"/>
          <p:nvPr/>
        </p:nvSpPr>
        <p:spPr>
          <a:xfrm>
            <a:off x="384048" y="658368"/>
            <a:ext cx="8375904" cy="56692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sz="2200" b="1">
                <a:solidFill>
                  <a:srgbClr val="1A1F25"/>
                </a:solidFill>
                <a:latin typeface="Calibri"/>
              </a:rPr>
              <a:t>Current status and next steps</a:t>
            </a:r>
            <a:endParaRPr b="0" i="0" sz="1800" u="none" cap="none" strike="noStrike">
              <a:solidFill>
                <a:srgbClr val="000000"/>
              </a:solidFill>
              <a:latin typeface="Google Sans"/>
              <a:ea typeface="Google Sans"/>
              <a:cs typeface="Google Sans"/>
              <a:sym typeface="Google Sans"/>
            </a:endParaRPr>
          </a:p>
        </p:txBody>
      </p:sp>
      <p:sp>
        <p:nvSpPr>
          <p:cNvPr id="174" name="Rounded Rectangle 173"/>
          <p:cNvSpPr/>
          <p:nvPr/>
        </p:nvSpPr>
        <p:spPr>
          <a:xfrm>
            <a:off x="384048" y="1463040"/>
            <a:ext cx="8375904" cy="1188720"/>
          </a:xfrm>
          <a:prstGeom prst="roundRect">
            <a:avLst>
              <a:gd name="adj" fmla="val 4000"/>
            </a:avLst>
          </a:prstGeom>
          <a:solidFill>
            <a:srgbClr val="F1F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5000"/>
              </a:lnSpc>
              <a:spcBef>
                <a:spcPts val="0"/>
              </a:spcBef>
              <a:spcAft>
                <a:spcPts val="400"/>
              </a:spcAft>
            </a:pPr>
            <a:r>
              <a:rPr sz="850" b="1" i="0">
                <a:solidFill>
                  <a:srgbClr val="0E8F69"/>
                </a:solidFill>
                <a:latin typeface="Calibri"/>
              </a:rPr>
              <a:t>SHIPPED AND VERIFIED</a:t>
            </a:r>
          </a:p>
          <a:p>
            <a:pPr algn="l">
              <a:lnSpc>
                <a:spcPct val="106000"/>
              </a:lnSpc>
              <a:spcBef>
                <a:spcPts val="0"/>
              </a:spcBef>
              <a:spcAft>
                <a:spcPts val="200"/>
              </a:spcAft>
            </a:pPr>
            <a:r>
              <a:rPr sz="930" b="0" i="0">
                <a:solidFill>
                  <a:srgbClr val="1A1F25"/>
                </a:solidFill>
                <a:latin typeface="Calibri"/>
              </a:rPr>
              <a:t>•  End-to-end engine — 1,000 rows in 5s, 79% classified, 76% brand resolved</a:t>
            </a:r>
          </a:p>
          <a:p>
            <a:pPr algn="l">
              <a:lnSpc>
                <a:spcPct val="106000"/>
              </a:lnSpc>
              <a:spcBef>
                <a:spcPts val="0"/>
              </a:spcBef>
              <a:spcAft>
                <a:spcPts val="200"/>
              </a:spcAft>
            </a:pPr>
            <a:r>
              <a:rPr sz="930" b="0" i="0">
                <a:solidFill>
                  <a:srgbClr val="1A1F25"/>
                </a:solidFill>
                <a:latin typeface="Calibri"/>
              </a:rPr>
              <a:t>•  9/9 gold description channels exact · 100% vocabulary compliance · 100% schema conformance · 0 unit-format errors</a:t>
            </a:r>
          </a:p>
          <a:p>
            <a:pPr algn="l">
              <a:lnSpc>
                <a:spcPct val="106000"/>
              </a:lnSpc>
              <a:spcBef>
                <a:spcPts val="0"/>
              </a:spcBef>
              <a:spcAft>
                <a:spcPts val="200"/>
              </a:spcAft>
            </a:pPr>
            <a:r>
              <a:rPr sz="930" b="0" i="0">
                <a:solidFill>
                  <a:srgbClr val="1A1F25"/>
                </a:solidFill>
                <a:latin typeface="Calibri"/>
              </a:rPr>
              <a:t>•  Provenance sidecar, triaged review queue, compliance report, Streamlit application</a:t>
            </a:r>
          </a:p>
        </p:txBody>
      </p:sp>
      <p:sp>
        <p:nvSpPr>
          <p:cNvPr id="175" name="Rounded Rectangle 174"/>
          <p:cNvSpPr/>
          <p:nvPr/>
        </p:nvSpPr>
        <p:spPr>
          <a:xfrm>
            <a:off x="384048" y="2743200"/>
            <a:ext cx="8375904" cy="1133856"/>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5000"/>
              </a:lnSpc>
              <a:spcBef>
                <a:spcPts val="0"/>
              </a:spcBef>
              <a:spcAft>
                <a:spcPts val="400"/>
              </a:spcAft>
            </a:pPr>
            <a:r>
              <a:rPr sz="850" b="1" i="0">
                <a:solidFill>
                  <a:srgbClr val="B47A0A"/>
                </a:solidFill>
                <a:latin typeface="Calibri"/>
              </a:rPr>
              <a:t>BUILT, PENDING A TRAINING RUN</a:t>
            </a:r>
          </a:p>
          <a:p>
            <a:pPr algn="l">
              <a:lnSpc>
                <a:spcPct val="108000"/>
              </a:lnSpc>
              <a:spcBef>
                <a:spcPts val="0"/>
              </a:spcBef>
              <a:spcAft>
                <a:spcPts val="0"/>
              </a:spcAft>
            </a:pPr>
            <a:r>
              <a:rPr sz="930" b="0" i="0">
                <a:solidFill>
                  <a:srgbClr val="1A1F25"/>
                </a:solidFill>
                <a:latin typeface="Calibri"/>
              </a:rPr>
              <a:t>The distillation package is complete and validated — 3,591 classifier examples over 77 classes and 636 span examples, generated from the rule engine, with the label-alignment and metric logic unit-tested (21 checks, including a pass over all 560 real span rows). The fine-tuning run itself is not yet executed, so no trained-model accuracy is claimed anywhere in this deck.</a:t>
            </a:r>
          </a:p>
        </p:txBody>
      </p:sp>
      <p:sp>
        <p:nvSpPr>
          <p:cNvPr id="176" name="TextBox 175"/>
          <p:cNvSpPr txBox="1"/>
          <p:nvPr/>
        </p:nvSpPr>
        <p:spPr>
          <a:xfrm>
            <a:off x="384048" y="3986784"/>
            <a:ext cx="8375904" cy="914400"/>
          </a:xfrm>
          <a:prstGeom prst="rect">
            <a:avLst/>
          </a:prstGeom>
          <a:noFill/>
        </p:spPr>
        <p:txBody>
          <a:bodyPr wrap="square" anchor="t" lIns="0" rIns="0" tIns="0" bIns="0">
            <a:spAutoFit/>
          </a:bodyPr>
          <a:lstStyle/>
          <a:p>
            <a:pPr algn="l">
              <a:lnSpc>
                <a:spcPct val="105000"/>
              </a:lnSpc>
              <a:spcBef>
                <a:spcPts val="0"/>
              </a:spcBef>
              <a:spcAft>
                <a:spcPts val="300"/>
              </a:spcAft>
            </a:pPr>
            <a:r>
              <a:rPr sz="850" b="1" i="0">
                <a:solidFill>
                  <a:srgbClr val="5A6672"/>
                </a:solidFill>
                <a:latin typeface="Calibri"/>
              </a:rPr>
              <a:t>ROADMAP</a:t>
            </a:r>
          </a:p>
          <a:p>
            <a:pPr algn="l">
              <a:lnSpc>
                <a:spcPct val="103000"/>
              </a:lnSpc>
              <a:spcBef>
                <a:spcPts val="0"/>
              </a:spcBef>
              <a:spcAft>
                <a:spcPts val="200"/>
              </a:spcAft>
            </a:pPr>
            <a:r>
              <a:rPr sz="880" b="0" i="0">
                <a:solidFill>
                  <a:srgbClr val="1A1F25"/>
                </a:solidFill>
                <a:latin typeface="Calibri"/>
              </a:rPr>
              <a:t>•  Manufacturer-source retrieval, honouring the guide's sourcing hierarchy, to close the attribute gap the input genuinely cannot supply</a:t>
            </a:r>
          </a:p>
          <a:p>
            <a:pPr algn="l">
              <a:lnSpc>
                <a:spcPct val="103000"/>
              </a:lnSpc>
              <a:spcBef>
                <a:spcPts val="0"/>
              </a:spcBef>
              <a:spcAft>
                <a:spcPts val="200"/>
              </a:spcAft>
            </a:pPr>
            <a:r>
              <a:rPr sz="880" b="0" i="0">
                <a:solidFill>
                  <a:srgbClr val="1A1F25"/>
                </a:solidFill>
                <a:latin typeface="Calibri"/>
              </a:rPr>
              <a:t>•  Active learning — accepted review decisions feed straight back into the induced vocabulary</a:t>
            </a:r>
          </a:p>
          <a:p>
            <a:pPr algn="l">
              <a:lnSpc>
                <a:spcPct val="103000"/>
              </a:lnSpc>
              <a:spcBef>
                <a:spcPts val="0"/>
              </a:spcBef>
              <a:spcAft>
                <a:spcPts val="200"/>
              </a:spcAft>
            </a:pPr>
            <a:r>
              <a:rPr sz="880" b="0" i="0">
                <a:solidFill>
                  <a:srgbClr val="1A1F25"/>
                </a:solidFill>
                <a:latin typeface="Calibri"/>
              </a:rPr>
              <a:t>•  Per-customer vocabulary packs, so an induced lexicon becomes a reusable asset per distributor</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38" title="Framededede 3.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79" name="Google Shape;179;p38"/>
          <p:cNvSpPr txBox="1"/>
          <p:nvPr/>
        </p:nvSpPr>
        <p:spPr>
          <a:xfrm>
            <a:off x="384048" y="658368"/>
            <a:ext cx="8375904" cy="56692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sz="2200" b="1">
                <a:solidFill>
                  <a:srgbClr val="1A1F25"/>
                </a:solidFill>
                <a:latin typeface="Calibri"/>
              </a:rPr>
              <a:t>Links</a:t>
            </a:r>
            <a:endParaRPr b="0" i="0" sz="1800" u="none" cap="none" strike="noStrike">
              <a:solidFill>
                <a:srgbClr val="000000"/>
              </a:solidFill>
              <a:latin typeface="Google Sans"/>
              <a:ea typeface="Google Sans"/>
              <a:cs typeface="Google Sans"/>
              <a:sym typeface="Google Sans"/>
            </a:endParaRPr>
          </a:p>
        </p:txBody>
      </p:sp>
      <p:sp>
        <p:nvSpPr>
          <p:cNvPr id="180" name="Rounded Rectangle 179"/>
          <p:cNvSpPr/>
          <p:nvPr/>
        </p:nvSpPr>
        <p:spPr>
          <a:xfrm>
            <a:off x="384048" y="1572768"/>
            <a:ext cx="8375904" cy="749808"/>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5000"/>
              </a:lnSpc>
              <a:spcBef>
                <a:spcPts val="0"/>
              </a:spcBef>
              <a:spcAft>
                <a:spcPts val="300"/>
              </a:spcAft>
            </a:pPr>
            <a:r>
              <a:rPr sz="850" b="1" i="0">
                <a:solidFill>
                  <a:srgbClr val="0E8F69"/>
                </a:solidFill>
                <a:latin typeface="Calibri"/>
              </a:rPr>
              <a:t>GITHUB PUBLIC REPOSITORY</a:t>
            </a:r>
          </a:p>
          <a:p>
            <a:pPr algn="l">
              <a:lnSpc>
                <a:spcPct val="105000"/>
              </a:lnSpc>
              <a:spcBef>
                <a:spcPts val="0"/>
              </a:spcBef>
              <a:spcAft>
                <a:spcPts val="0"/>
              </a:spcAft>
            </a:pPr>
            <a:r>
              <a:rPr sz="1200" b="1" i="0">
                <a:solidFill>
                  <a:srgbClr val="1A1F25"/>
                </a:solidFill>
                <a:latin typeface="Calibri"/>
              </a:rPr>
              <a:t>https://github.com/skdas20/UniHack</a:t>
            </a:r>
          </a:p>
        </p:txBody>
      </p:sp>
      <p:sp>
        <p:nvSpPr>
          <p:cNvPr id="181" name="Rounded Rectangle 180"/>
          <p:cNvSpPr/>
          <p:nvPr/>
        </p:nvSpPr>
        <p:spPr>
          <a:xfrm>
            <a:off x="384048" y="2432304"/>
            <a:ext cx="8375904" cy="749808"/>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5000"/>
              </a:lnSpc>
              <a:spcBef>
                <a:spcPts val="0"/>
              </a:spcBef>
              <a:spcAft>
                <a:spcPts val="300"/>
              </a:spcAft>
            </a:pPr>
            <a:r>
              <a:rPr sz="850" b="1" i="0">
                <a:solidFill>
                  <a:srgbClr val="0E8F69"/>
                </a:solidFill>
                <a:latin typeface="Calibri"/>
              </a:rPr>
              <a:t>WORKING PROTOTYPE</a:t>
            </a:r>
          </a:p>
          <a:p>
            <a:pPr algn="l">
              <a:lnSpc>
                <a:spcPct val="105000"/>
              </a:lnSpc>
              <a:spcBef>
                <a:spcPts val="0"/>
              </a:spcBef>
              <a:spcAft>
                <a:spcPts val="0"/>
              </a:spcAft>
            </a:pPr>
            <a:r>
              <a:rPr sz="1200" b="1" i="0">
                <a:solidFill>
                  <a:srgbClr val="1A1F25"/>
                </a:solidFill>
                <a:latin typeface="Calibri"/>
              </a:rPr>
              <a:t>https://glassbox-unihack.streamlit.app/</a:t>
            </a:r>
          </a:p>
        </p:txBody>
      </p:sp>
      <p:sp>
        <p:nvSpPr>
          <p:cNvPr id="182" name="Rounded Rectangle 181"/>
          <p:cNvSpPr/>
          <p:nvPr/>
        </p:nvSpPr>
        <p:spPr>
          <a:xfrm>
            <a:off x="384048" y="3291840"/>
            <a:ext cx="8375904" cy="749808"/>
          </a:xfrm>
          <a:prstGeom prst="roundRect">
            <a:avLst>
              <a:gd name="adj" fmla="val 4000"/>
            </a:avLst>
          </a:prstGeom>
          <a:solidFill>
            <a:srgbClr val="FDF6E7"/>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lnSpc>
                <a:spcPct val="105000"/>
              </a:lnSpc>
              <a:spcBef>
                <a:spcPts val="0"/>
              </a:spcBef>
              <a:spcAft>
                <a:spcPts val="300"/>
              </a:spcAft>
            </a:pPr>
            <a:r>
              <a:rPr sz="850" b="1" i="0">
                <a:solidFill>
                  <a:srgbClr val="B47A0A"/>
                </a:solidFill>
                <a:latin typeface="Calibri"/>
              </a:rPr>
              <a:t>DEMO VIDEO (3 MINUTES)</a:t>
            </a:r>
          </a:p>
          <a:p>
            <a:pPr algn="l">
              <a:lnSpc>
                <a:spcPct val="105000"/>
              </a:lnSpc>
              <a:spcBef>
                <a:spcPts val="0"/>
              </a:spcBef>
              <a:spcAft>
                <a:spcPts val="0"/>
              </a:spcAft>
            </a:pPr>
            <a:r>
              <a:rPr sz="1100" b="0" i="0">
                <a:solidFill>
                  <a:srgbClr val="B47A0A"/>
                </a:solidFill>
                <a:latin typeface="Calibri"/>
              </a:rPr>
              <a:t>Submitted alongside this deck on the Hack2skill portal</a:t>
            </a:r>
          </a:p>
        </p:txBody>
      </p:sp>
      <p:sp>
        <p:nvSpPr>
          <p:cNvPr id="183" name="TextBox 182"/>
          <p:cNvSpPr txBox="1"/>
          <p:nvPr/>
        </p:nvSpPr>
        <p:spPr>
          <a:xfrm>
            <a:off x="384048" y="4224528"/>
            <a:ext cx="8375904" cy="54864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A6672"/>
                </a:solidFill>
                <a:latin typeface="Calibri"/>
              </a:rPr>
              <a:t>Run it yourself:  git clone · pip install -r requirements.txt · python run.py — no API key, no network, ~5 seconds for 1,000 rows.</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39" title="Framededede 4.png"/>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image.png"/>
          <p:cNvPicPr>
            <a:picLocks noChangeAspect="1"/>
          </p:cNvPicPr>
          <p:nvPr/>
        </p:nvPicPr>
        <p:blipFill>
          <a:blip r:embed="rId2"/>
          <a:stretch>
            <a:fillRect/>
          </a:stretch>
        </p:blipFill>
        <p:spPr>
          <a:xfrm>
            <a:off x="0" y="0"/>
            <a:ext cx="9144000" cy="5143500"/>
          </a:xfrm>
          <a:prstGeom prst="rect">
            <a:avLst/>
          </a:prstGeom>
        </p:spPr>
      </p:pic>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5" name="TextBox 4"/>
          <p:cNvSpPr txBox="1"/>
          <p:nvPr/>
        </p:nvSpPr>
        <p:spPr>
          <a:xfrm>
            <a:off x="384048" y="658368"/>
            <a:ext cx="8375904" cy="566928"/>
          </a:xfrm>
          <a:prstGeom prst="rect">
            <a:avLst/>
          </a:prstGeom>
          <a:noFill/>
        </p:spPr>
        <p:txBody>
          <a:bodyPr wrap="square" anchor="t" lIns="0" rIns="0" tIns="0" bIns="0">
            <a:spAutoFit/>
          </a:bodyPr>
          <a:lstStyle/>
          <a:p>
            <a:pPr algn="l">
              <a:lnSpc>
                <a:spcPct val="105000"/>
              </a:lnSpc>
              <a:spcBef>
                <a:spcPts val="0"/>
              </a:spcBef>
              <a:spcAft>
                <a:spcPts val="0"/>
              </a:spcAft>
            </a:pPr>
            <a:r>
              <a:rPr sz="1900" b="1" i="0">
                <a:solidFill>
                  <a:srgbClr val="1A1F25"/>
                </a:solidFill>
                <a:latin typeface="Calibri"/>
              </a:rPr>
              <a:t>2. How does it ensure accuracy and trust?</a:t>
            </a:r>
          </a:p>
        </p:txBody>
      </p:sp>
      <p:sp>
        <p:nvSpPr>
          <p:cNvPr id="6" name="TextBox 5"/>
          <p:cNvSpPr txBox="1"/>
          <p:nvPr/>
        </p:nvSpPr>
        <p:spPr>
          <a:xfrm>
            <a:off x="384048" y="1133856"/>
            <a:ext cx="8375904" cy="274320"/>
          </a:xfrm>
          <a:prstGeom prst="rect">
            <a:avLst/>
          </a:prstGeom>
          <a:noFill/>
        </p:spPr>
        <p:txBody>
          <a:bodyPr wrap="square" anchor="t" lIns="0" rIns="0" tIns="0" bIns="0">
            <a:spAutoFit/>
          </a:bodyPr>
          <a:lstStyle/>
          <a:p>
            <a:pPr algn="l">
              <a:lnSpc>
                <a:spcPct val="105000"/>
              </a:lnSpc>
              <a:spcBef>
                <a:spcPts val="0"/>
              </a:spcBef>
              <a:spcAft>
                <a:spcPts val="0"/>
              </a:spcAft>
            </a:pPr>
            <a:r>
              <a:rPr sz="1050" b="0" i="0">
                <a:solidFill>
                  <a:srgbClr val="5A6672"/>
                </a:solidFill>
                <a:latin typeface="Calibri"/>
              </a:rPr>
              <a:t>Five mechanisms, all measured. Nothing below is estimated.</a:t>
            </a:r>
          </a:p>
        </p:txBody>
      </p:sp>
      <p:sp>
        <p:nvSpPr>
          <p:cNvPr id="7" name="Rounded Rectangle 6"/>
          <p:cNvSpPr/>
          <p:nvPr/>
        </p:nvSpPr>
        <p:spPr>
          <a:xfrm>
            <a:off x="384048" y="1481328"/>
            <a:ext cx="1591056" cy="841248"/>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100"/>
              </a:spcAft>
            </a:pPr>
            <a:r>
              <a:rPr sz="1900" b="1" i="0">
                <a:solidFill>
                  <a:srgbClr val="0E8F69"/>
                </a:solidFill>
                <a:latin typeface="Calibri"/>
              </a:rPr>
              <a:t>9/9</a:t>
            </a:r>
          </a:p>
          <a:p>
            <a:pPr algn="ctr">
              <a:lnSpc>
                <a:spcPct val="95000"/>
              </a:lnSpc>
              <a:spcBef>
                <a:spcPts val="0"/>
              </a:spcBef>
              <a:spcAft>
                <a:spcPts val="0"/>
              </a:spcAft>
            </a:pPr>
            <a:r>
              <a:rPr sz="800" b="0" i="0">
                <a:solidFill>
                  <a:srgbClr val="5A6672"/>
                </a:solidFill>
                <a:latin typeface="Calibri"/>
              </a:rPr>
              <a:t>Gold channels
reproduced exactly</a:t>
            </a:r>
          </a:p>
        </p:txBody>
      </p:sp>
      <p:sp>
        <p:nvSpPr>
          <p:cNvPr id="8" name="Rounded Rectangle 7"/>
          <p:cNvSpPr/>
          <p:nvPr/>
        </p:nvSpPr>
        <p:spPr>
          <a:xfrm>
            <a:off x="2084832" y="1481328"/>
            <a:ext cx="1591056" cy="841248"/>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100"/>
              </a:spcAft>
            </a:pPr>
            <a:r>
              <a:rPr sz="1900" b="1" i="0">
                <a:solidFill>
                  <a:srgbClr val="0E8F69"/>
                </a:solidFill>
                <a:latin typeface="Calibri"/>
              </a:rPr>
              <a:t>100%</a:t>
            </a:r>
          </a:p>
          <a:p>
            <a:pPr algn="ctr">
              <a:lnSpc>
                <a:spcPct val="95000"/>
              </a:lnSpc>
              <a:spcBef>
                <a:spcPts val="0"/>
              </a:spcBef>
              <a:spcAft>
                <a:spcPts val="0"/>
              </a:spcAft>
            </a:pPr>
            <a:r>
              <a:rPr sz="800" b="0" i="0">
                <a:solidFill>
                  <a:srgbClr val="5A6672"/>
                </a:solidFill>
                <a:latin typeface="Calibri"/>
              </a:rPr>
              <a:t>Values inside the
controlled vocabulary</a:t>
            </a:r>
          </a:p>
        </p:txBody>
      </p:sp>
      <p:sp>
        <p:nvSpPr>
          <p:cNvPr id="9" name="Rounded Rectangle 8"/>
          <p:cNvSpPr/>
          <p:nvPr/>
        </p:nvSpPr>
        <p:spPr>
          <a:xfrm>
            <a:off x="3785616" y="1481328"/>
            <a:ext cx="1591056" cy="841248"/>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100"/>
              </a:spcAft>
            </a:pPr>
            <a:r>
              <a:rPr sz="1900" b="1" i="0">
                <a:solidFill>
                  <a:srgbClr val="0E8F69"/>
                </a:solidFill>
                <a:latin typeface="Calibri"/>
              </a:rPr>
              <a:t>100%</a:t>
            </a:r>
          </a:p>
          <a:p>
            <a:pPr algn="ctr">
              <a:lnSpc>
                <a:spcPct val="95000"/>
              </a:lnSpc>
              <a:spcBef>
                <a:spcPts val="0"/>
              </a:spcBef>
              <a:spcAft>
                <a:spcPts val="0"/>
              </a:spcAft>
            </a:pPr>
            <a:r>
              <a:rPr sz="800" b="0" i="0">
                <a:solidFill>
                  <a:srgbClr val="5A6672"/>
                </a:solidFill>
                <a:latin typeface="Calibri"/>
              </a:rPr>
              <a:t>Char-limit
compliance</a:t>
            </a:r>
          </a:p>
        </p:txBody>
      </p:sp>
      <p:sp>
        <p:nvSpPr>
          <p:cNvPr id="10" name="Rounded Rectangle 9"/>
          <p:cNvSpPr/>
          <p:nvPr/>
        </p:nvSpPr>
        <p:spPr>
          <a:xfrm>
            <a:off x="5486400" y="1481328"/>
            <a:ext cx="1591056" cy="841248"/>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100"/>
              </a:spcAft>
            </a:pPr>
            <a:r>
              <a:rPr sz="1900" b="1" i="0">
                <a:solidFill>
                  <a:srgbClr val="0E8F69"/>
                </a:solidFill>
                <a:latin typeface="Calibri"/>
              </a:rPr>
              <a:t>0</a:t>
            </a:r>
          </a:p>
          <a:p>
            <a:pPr algn="ctr">
              <a:lnSpc>
                <a:spcPct val="95000"/>
              </a:lnSpc>
              <a:spcBef>
                <a:spcPts val="0"/>
              </a:spcBef>
              <a:spcAft>
                <a:spcPts val="0"/>
              </a:spcAft>
            </a:pPr>
            <a:r>
              <a:rPr sz="800" b="0" i="0">
                <a:solidFill>
                  <a:srgbClr val="5A6672"/>
                </a:solidFill>
                <a:latin typeface="Calibri"/>
              </a:rPr>
              <a:t>Unit-format
violations</a:t>
            </a:r>
          </a:p>
        </p:txBody>
      </p:sp>
      <p:sp>
        <p:nvSpPr>
          <p:cNvPr id="11" name="Rounded Rectangle 10"/>
          <p:cNvSpPr/>
          <p:nvPr/>
        </p:nvSpPr>
        <p:spPr>
          <a:xfrm>
            <a:off x="7187184" y="1481328"/>
            <a:ext cx="1591056" cy="841248"/>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100"/>
              </a:spcAft>
            </a:pPr>
            <a:r>
              <a:rPr sz="1900" b="1" i="0">
                <a:solidFill>
                  <a:srgbClr val="0E8F69"/>
                </a:solidFill>
                <a:latin typeface="Calibri"/>
              </a:rPr>
              <a:t>100%</a:t>
            </a:r>
          </a:p>
          <a:p>
            <a:pPr algn="ctr">
              <a:lnSpc>
                <a:spcPct val="95000"/>
              </a:lnSpc>
              <a:spcBef>
                <a:spcPts val="0"/>
              </a:spcBef>
              <a:spcAft>
                <a:spcPts val="0"/>
              </a:spcAft>
            </a:pPr>
            <a:r>
              <a:rPr sz="800" b="0" i="0">
                <a:solidFill>
                  <a:srgbClr val="5A6672"/>
                </a:solidFill>
                <a:latin typeface="Calibri"/>
              </a:rPr>
              <a:t>252-header schema
conformance</a:t>
            </a:r>
          </a:p>
        </p:txBody>
      </p:sp>
      <p:sp>
        <p:nvSpPr>
          <p:cNvPr id="12" name="TextBox 11"/>
          <p:cNvSpPr txBox="1"/>
          <p:nvPr/>
        </p:nvSpPr>
        <p:spPr>
          <a:xfrm>
            <a:off x="384048" y="2487168"/>
            <a:ext cx="8375904" cy="438912"/>
          </a:xfrm>
          <a:prstGeom prst="rect">
            <a:avLst/>
          </a:prstGeom>
          <a:noFill/>
        </p:spPr>
        <p:txBody>
          <a:bodyPr wrap="square" anchor="t" lIns="0" rIns="0" tIns="0" bIns="0">
            <a:spAutoFit/>
          </a:bodyPr>
          <a:lstStyle/>
          <a:p>
            <a:pPr>
              <a:lnSpc>
                <a:spcPct val="108000"/>
              </a:lnSpc>
              <a:spcBef>
                <a:spcPts val="0"/>
              </a:spcBef>
              <a:spcAft>
                <a:spcPts val="0"/>
              </a:spcAft>
            </a:pPr>
            <a:r>
              <a:rPr sz="950" b="1">
                <a:solidFill>
                  <a:srgbClr val="1A1F25"/>
                </a:solidFill>
                <a:latin typeface="Calibri"/>
              </a:rPr>
              <a:t>Provenance, not self-report  </a:t>
            </a:r>
            <a:r>
              <a:rPr sz="950" b="0">
                <a:solidFill>
                  <a:srgbClr val="5A6672"/>
                </a:solidFill>
                <a:latin typeface="Calibri"/>
              </a:rPr>
              <a:t>Every cell carries its mechanism, rule, confidence and source span. Confidence is computed from that distribution, so fluent invented values cannot score well.</a:t>
            </a:r>
          </a:p>
        </p:txBody>
      </p:sp>
      <p:sp>
        <p:nvSpPr>
          <p:cNvPr id="13" name="TextBox 12"/>
          <p:cNvSpPr txBox="1"/>
          <p:nvPr/>
        </p:nvSpPr>
        <p:spPr>
          <a:xfrm>
            <a:off x="384048" y="2971800"/>
            <a:ext cx="8375904" cy="438912"/>
          </a:xfrm>
          <a:prstGeom prst="rect">
            <a:avLst/>
          </a:prstGeom>
          <a:noFill/>
        </p:spPr>
        <p:txBody>
          <a:bodyPr wrap="square" anchor="t" lIns="0" rIns="0" tIns="0" bIns="0">
            <a:spAutoFit/>
          </a:bodyPr>
          <a:lstStyle/>
          <a:p>
            <a:pPr>
              <a:lnSpc>
                <a:spcPct val="108000"/>
              </a:lnSpc>
              <a:spcBef>
                <a:spcPts val="0"/>
              </a:spcBef>
              <a:spcAft>
                <a:spcPts val="0"/>
              </a:spcAft>
            </a:pPr>
            <a:r>
              <a:rPr sz="950" b="1">
                <a:solidFill>
                  <a:srgbClr val="1A1F25"/>
                </a:solidFill>
                <a:latin typeface="Calibri"/>
              </a:rPr>
              <a:t>Controlled generation  </a:t>
            </a:r>
            <a:r>
              <a:rPr sz="950" b="0">
                <a:solidFill>
                  <a:srgbClr val="5A6672"/>
                </a:solidFill>
                <a:latin typeface="Calibri"/>
              </a:rPr>
              <a:t>Attribute values are constrained to a per-category vocabulary. A value outside it is rejected and reported, never emitted.</a:t>
            </a:r>
          </a:p>
        </p:txBody>
      </p:sp>
      <p:sp>
        <p:nvSpPr>
          <p:cNvPr id="14" name="TextBox 13"/>
          <p:cNvSpPr txBox="1"/>
          <p:nvPr/>
        </p:nvSpPr>
        <p:spPr>
          <a:xfrm>
            <a:off x="384048" y="3456432"/>
            <a:ext cx="8375904" cy="438912"/>
          </a:xfrm>
          <a:prstGeom prst="rect">
            <a:avLst/>
          </a:prstGeom>
          <a:noFill/>
        </p:spPr>
        <p:txBody>
          <a:bodyPr wrap="square" anchor="t" lIns="0" rIns="0" tIns="0" bIns="0">
            <a:spAutoFit/>
          </a:bodyPr>
          <a:lstStyle/>
          <a:p>
            <a:pPr>
              <a:lnSpc>
                <a:spcPct val="108000"/>
              </a:lnSpc>
              <a:spcBef>
                <a:spcPts val="0"/>
              </a:spcBef>
              <a:spcAft>
                <a:spcPts val="0"/>
              </a:spcAft>
            </a:pPr>
            <a:r>
              <a:rPr sz="950" b="1">
                <a:solidFill>
                  <a:srgbClr val="1A1F25"/>
                </a:solidFill>
                <a:latin typeface="Calibri"/>
              </a:rPr>
              <a:t>Verified against the published ground truth  </a:t>
            </a:r>
            <a:r>
              <a:rPr sz="950" b="0">
                <a:solidFill>
                  <a:srgbClr val="5A6672"/>
                </a:solidFill>
                <a:latin typeface="Calibri"/>
              </a:rPr>
              <a:t>All five description channels of both fully-worked rows reproduce character-for-character, including a 390-character long description. Run tests/test_gold_channels.py.</a:t>
            </a:r>
          </a:p>
        </p:txBody>
      </p:sp>
      <p:sp>
        <p:nvSpPr>
          <p:cNvPr id="15" name="TextBox 14"/>
          <p:cNvSpPr txBox="1"/>
          <p:nvPr/>
        </p:nvSpPr>
        <p:spPr>
          <a:xfrm>
            <a:off x="384048" y="3941064"/>
            <a:ext cx="8375904" cy="438912"/>
          </a:xfrm>
          <a:prstGeom prst="rect">
            <a:avLst/>
          </a:prstGeom>
          <a:noFill/>
        </p:spPr>
        <p:txBody>
          <a:bodyPr wrap="square" anchor="t" lIns="0" rIns="0" tIns="0" bIns="0">
            <a:spAutoFit/>
          </a:bodyPr>
          <a:lstStyle/>
          <a:p>
            <a:pPr>
              <a:lnSpc>
                <a:spcPct val="108000"/>
              </a:lnSpc>
              <a:spcBef>
                <a:spcPts val="0"/>
              </a:spcBef>
              <a:spcAft>
                <a:spcPts val="0"/>
              </a:spcAft>
            </a:pPr>
            <a:r>
              <a:rPr sz="950" b="1">
                <a:solidFill>
                  <a:srgbClr val="1A1F25"/>
                </a:solidFill>
                <a:latin typeface="Calibri"/>
              </a:rPr>
              <a:t>Human-in-the-loop triage  </a:t>
            </a:r>
            <a:r>
              <a:rPr sz="950" b="0">
                <a:solidFill>
                  <a:srgbClr val="5A6672"/>
                </a:solidFill>
                <a:latin typeface="Calibri"/>
              </a:rPr>
              <a:t>618 rows auto-publishable, 297 flagged with a specific reason, 85 blocked. A reviewer clears an item in seconds.</a:t>
            </a:r>
          </a:p>
        </p:txBody>
      </p:sp>
      <p:sp>
        <p:nvSpPr>
          <p:cNvPr id="16" name="TextBox 15"/>
          <p:cNvSpPr txBox="1"/>
          <p:nvPr/>
        </p:nvSpPr>
        <p:spPr>
          <a:xfrm>
            <a:off x="384048" y="4425696"/>
            <a:ext cx="8375904" cy="438912"/>
          </a:xfrm>
          <a:prstGeom prst="rect">
            <a:avLst/>
          </a:prstGeom>
          <a:noFill/>
        </p:spPr>
        <p:txBody>
          <a:bodyPr wrap="square" anchor="t" lIns="0" rIns="0" tIns="0" bIns="0">
            <a:spAutoFit/>
          </a:bodyPr>
          <a:lstStyle/>
          <a:p>
            <a:pPr>
              <a:lnSpc>
                <a:spcPct val="108000"/>
              </a:lnSpc>
              <a:spcBef>
                <a:spcPts val="0"/>
              </a:spcBef>
              <a:spcAft>
                <a:spcPts val="0"/>
              </a:spcAft>
            </a:pPr>
            <a:r>
              <a:rPr sz="950" b="1">
                <a:solidFill>
                  <a:srgbClr val="1A1F25"/>
                </a:solidFill>
                <a:latin typeface="Calibri"/>
              </a:rPr>
              <a:t>It refuses to invent  </a:t>
            </a:r>
            <a:r>
              <a:rPr sz="950" b="0">
                <a:solidFill>
                  <a:srgbClr val="5A6672"/>
                </a:solidFill>
                <a:latin typeface="Calibri"/>
              </a:rPr>
              <a:t>Part numbers, prices, UPC and country of origin are left blank with a recorded reason naming the system of record. Both gold rows leave the same fields blank.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image.png"/>
          <p:cNvPicPr>
            <a:picLocks noChangeAspect="1"/>
          </p:cNvPicPr>
          <p:nvPr/>
        </p:nvPicPr>
        <p:blipFill>
          <a:blip r:embed="rId2"/>
          <a:stretch>
            <a:fillRect/>
          </a:stretch>
        </p:blipFill>
        <p:spPr>
          <a:xfrm>
            <a:off x="0" y="0"/>
            <a:ext cx="9144000" cy="5143500"/>
          </a:xfrm>
          <a:prstGeom prst="rect">
            <a:avLst/>
          </a:prstGeom>
        </p:spPr>
      </p:pic>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5" name="TextBox 4"/>
          <p:cNvSpPr txBox="1"/>
          <p:nvPr/>
        </p:nvSpPr>
        <p:spPr>
          <a:xfrm>
            <a:off x="384048" y="658368"/>
            <a:ext cx="8375904" cy="566928"/>
          </a:xfrm>
          <a:prstGeom prst="rect">
            <a:avLst/>
          </a:prstGeom>
          <a:noFill/>
        </p:spPr>
        <p:txBody>
          <a:bodyPr wrap="square" anchor="t" lIns="0" rIns="0" tIns="0" bIns="0">
            <a:spAutoFit/>
          </a:bodyPr>
          <a:lstStyle/>
          <a:p>
            <a:pPr algn="l">
              <a:lnSpc>
                <a:spcPct val="105000"/>
              </a:lnSpc>
              <a:spcBef>
                <a:spcPts val="0"/>
              </a:spcBef>
              <a:spcAft>
                <a:spcPts val="0"/>
              </a:spcAft>
            </a:pPr>
            <a:r>
              <a:rPr sz="1800" b="1" i="0">
                <a:solidFill>
                  <a:srgbClr val="1A1F25"/>
                </a:solidFill>
                <a:latin typeface="Calibri"/>
              </a:rPr>
              <a:t>3. What makes it scalable for enterprise catalogues?</a:t>
            </a:r>
          </a:p>
        </p:txBody>
      </p:sp>
      <p:sp>
        <p:nvSpPr>
          <p:cNvPr id="6" name="Rounded Rectangle 5"/>
          <p:cNvSpPr/>
          <p:nvPr/>
        </p:nvSpPr>
        <p:spPr>
          <a:xfrm>
            <a:off x="384048" y="1481328"/>
            <a:ext cx="1993392" cy="822960"/>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100"/>
              </a:spcAft>
            </a:pPr>
            <a:r>
              <a:rPr sz="1900" b="1" i="0">
                <a:solidFill>
                  <a:srgbClr val="0E8F69"/>
                </a:solidFill>
                <a:latin typeface="Calibri"/>
              </a:rPr>
              <a:t>214</a:t>
            </a:r>
          </a:p>
          <a:p>
            <a:pPr algn="ctr">
              <a:lnSpc>
                <a:spcPct val="95000"/>
              </a:lnSpc>
              <a:spcBef>
                <a:spcPts val="0"/>
              </a:spcBef>
              <a:spcAft>
                <a:spcPts val="0"/>
              </a:spcAft>
            </a:pPr>
            <a:r>
              <a:rPr sz="800" b="0" i="0">
                <a:solidFill>
                  <a:srgbClr val="5A6672"/>
                </a:solidFill>
                <a:latin typeface="Calibri"/>
              </a:rPr>
              <a:t>rows/sec, single
threaded CPU</a:t>
            </a:r>
          </a:p>
        </p:txBody>
      </p:sp>
      <p:sp>
        <p:nvSpPr>
          <p:cNvPr id="7" name="Rounded Rectangle 6"/>
          <p:cNvSpPr/>
          <p:nvPr/>
        </p:nvSpPr>
        <p:spPr>
          <a:xfrm>
            <a:off x="2514600" y="1481328"/>
            <a:ext cx="1993392" cy="822960"/>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100"/>
              </a:spcAft>
            </a:pPr>
            <a:r>
              <a:rPr sz="1900" b="1" i="0">
                <a:solidFill>
                  <a:srgbClr val="0E8F69"/>
                </a:solidFill>
                <a:latin typeface="Calibri"/>
              </a:rPr>
              <a:t>5s</a:t>
            </a:r>
          </a:p>
          <a:p>
            <a:pPr algn="ctr">
              <a:lnSpc>
                <a:spcPct val="95000"/>
              </a:lnSpc>
              <a:spcBef>
                <a:spcPts val="0"/>
              </a:spcBef>
              <a:spcAft>
                <a:spcPts val="0"/>
              </a:spcAft>
            </a:pPr>
            <a:r>
              <a:rPr sz="800" b="0" i="0">
                <a:solidFill>
                  <a:srgbClr val="5A6672"/>
                </a:solidFill>
                <a:latin typeface="Calibri"/>
              </a:rPr>
              <a:t>for the full
1,000-row file</a:t>
            </a:r>
          </a:p>
        </p:txBody>
      </p:sp>
      <p:sp>
        <p:nvSpPr>
          <p:cNvPr id="8" name="Rounded Rectangle 7"/>
          <p:cNvSpPr/>
          <p:nvPr/>
        </p:nvSpPr>
        <p:spPr>
          <a:xfrm>
            <a:off x="4645152" y="1481328"/>
            <a:ext cx="1993392" cy="822960"/>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100"/>
              </a:spcAft>
            </a:pPr>
            <a:r>
              <a:rPr sz="1900" b="1" i="0">
                <a:solidFill>
                  <a:srgbClr val="0E8F69"/>
                </a:solidFill>
                <a:latin typeface="Calibri"/>
              </a:rPr>
              <a:t>0</a:t>
            </a:r>
          </a:p>
          <a:p>
            <a:pPr algn="ctr">
              <a:lnSpc>
                <a:spcPct val="95000"/>
              </a:lnSpc>
              <a:spcBef>
                <a:spcPts val="0"/>
              </a:spcBef>
              <a:spcAft>
                <a:spcPts val="0"/>
              </a:spcAft>
            </a:pPr>
            <a:r>
              <a:rPr sz="800" b="0" i="0">
                <a:solidFill>
                  <a:srgbClr val="5A6672"/>
                </a:solidFill>
                <a:latin typeface="Calibri"/>
              </a:rPr>
              <a:t>API keys or network
calls required</a:t>
            </a:r>
          </a:p>
        </p:txBody>
      </p:sp>
      <p:sp>
        <p:nvSpPr>
          <p:cNvPr id="9" name="Rounded Rectangle 8"/>
          <p:cNvSpPr/>
          <p:nvPr/>
        </p:nvSpPr>
        <p:spPr>
          <a:xfrm>
            <a:off x="6775704" y="1481328"/>
            <a:ext cx="1993392" cy="822960"/>
          </a:xfrm>
          <a:prstGeom prst="roundRect">
            <a:avLst>
              <a:gd name="adj" fmla="val 4000"/>
            </a:avLst>
          </a:prstGeom>
          <a:solidFill>
            <a:srgbClr val="FFFFFF"/>
          </a:solidFill>
          <a:ln w="9525">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lnSpc>
                <a:spcPct val="105000"/>
              </a:lnSpc>
              <a:spcBef>
                <a:spcPts val="0"/>
              </a:spcBef>
              <a:spcAft>
                <a:spcPts val="100"/>
              </a:spcAft>
            </a:pPr>
            <a:r>
              <a:rPr sz="1900" b="1" i="0">
                <a:solidFill>
                  <a:srgbClr val="0E8F69"/>
                </a:solidFill>
                <a:latin typeface="Calibri"/>
              </a:rPr>
              <a:t>51</a:t>
            </a:r>
          </a:p>
          <a:p>
            <a:pPr algn="ctr">
              <a:lnSpc>
                <a:spcPct val="95000"/>
              </a:lnSpc>
              <a:spcBef>
                <a:spcPts val="0"/>
              </a:spcBef>
              <a:spcAft>
                <a:spcPts val="0"/>
              </a:spcAft>
            </a:pPr>
            <a:r>
              <a:rPr sz="800" b="0" i="0">
                <a:solidFill>
                  <a:srgbClr val="5A6672"/>
                </a:solidFill>
                <a:latin typeface="Calibri"/>
              </a:rPr>
              <a:t>brands learned with
no dictionary given</a:t>
            </a:r>
          </a:p>
        </p:txBody>
      </p:sp>
      <p:sp>
        <p:nvSpPr>
          <p:cNvPr id="10" name="TextBox 9"/>
          <p:cNvSpPr txBox="1"/>
          <p:nvPr/>
        </p:nvSpPr>
        <p:spPr>
          <a:xfrm>
            <a:off x="384048" y="2468880"/>
            <a:ext cx="8375904" cy="457200"/>
          </a:xfrm>
          <a:prstGeom prst="rect">
            <a:avLst/>
          </a:prstGeom>
          <a:noFill/>
        </p:spPr>
        <p:txBody>
          <a:bodyPr wrap="square" anchor="t" lIns="0" rIns="0" tIns="0" bIns="0">
            <a:spAutoFit/>
          </a:bodyPr>
          <a:lstStyle/>
          <a:p>
            <a:pPr>
              <a:lnSpc>
                <a:spcPct val="106000"/>
              </a:lnSpc>
              <a:spcBef>
                <a:spcPts val="0"/>
              </a:spcBef>
              <a:spcAft>
                <a:spcPts val="0"/>
              </a:spcAft>
            </a:pPr>
            <a:r>
              <a:rPr sz="950" b="1">
                <a:solidFill>
                  <a:srgbClr val="1A1F25"/>
                </a:solidFill>
                <a:latin typeface="Calibri"/>
              </a:rPr>
              <a:t>Large catalogues  </a:t>
            </a:r>
            <a:r>
              <a:rPr sz="950" b="0">
                <a:solidFill>
                  <a:srgbClr val="5A6672"/>
                </a:solidFill>
                <a:latin typeface="Calibri"/>
              </a:rPr>
              <a:t>Linear, single-pass, no per-row network call. 1,000 rows in 5 seconds on one core; the work parallelises per row, so a 2M-SKU catalogue is an overnight batch, not a budget line.</a:t>
            </a:r>
          </a:p>
        </p:txBody>
      </p:sp>
      <p:sp>
        <p:nvSpPr>
          <p:cNvPr id="11" name="TextBox 10"/>
          <p:cNvSpPr txBox="1"/>
          <p:nvPr/>
        </p:nvSpPr>
        <p:spPr>
          <a:xfrm>
            <a:off x="384048" y="2962656"/>
            <a:ext cx="8375904" cy="457200"/>
          </a:xfrm>
          <a:prstGeom prst="rect">
            <a:avLst/>
          </a:prstGeom>
          <a:noFill/>
        </p:spPr>
        <p:txBody>
          <a:bodyPr wrap="square" anchor="t" lIns="0" rIns="0" tIns="0" bIns="0">
            <a:spAutoFit/>
          </a:bodyPr>
          <a:lstStyle/>
          <a:p>
            <a:pPr>
              <a:lnSpc>
                <a:spcPct val="106000"/>
              </a:lnSpc>
              <a:spcBef>
                <a:spcPts val="0"/>
              </a:spcBef>
              <a:spcAft>
                <a:spcPts val="0"/>
              </a:spcAft>
            </a:pPr>
            <a:r>
              <a:rPr sz="950" b="1">
                <a:solidFill>
                  <a:srgbClr val="1A1F25"/>
                </a:solidFill>
                <a:latin typeface="Calibri"/>
              </a:rPr>
              <a:t>New manufacturers  </a:t>
            </a:r>
            <a:r>
              <a:rPr sz="950" b="0">
                <a:solidFill>
                  <a:srgbClr val="5A6672"/>
                </a:solidFill>
                <a:latin typeface="Calibri"/>
              </a:rPr>
              <a:t>The vocabulary is induced from whatever corpus is loaded, so a new distributor needs no dictionary work. This is the whole point: a pipeline that depends on a hand-curated 27,000-row brand list can only process catalogues someone already curated.</a:t>
            </a:r>
          </a:p>
        </p:txBody>
      </p:sp>
      <p:sp>
        <p:nvSpPr>
          <p:cNvPr id="12" name="TextBox 11"/>
          <p:cNvSpPr txBox="1"/>
          <p:nvPr/>
        </p:nvSpPr>
        <p:spPr>
          <a:xfrm>
            <a:off x="384048" y="3456432"/>
            <a:ext cx="8375904" cy="457200"/>
          </a:xfrm>
          <a:prstGeom prst="rect">
            <a:avLst/>
          </a:prstGeom>
          <a:noFill/>
        </p:spPr>
        <p:txBody>
          <a:bodyPr wrap="square" anchor="t" lIns="0" rIns="0" tIns="0" bIns="0">
            <a:spAutoFit/>
          </a:bodyPr>
          <a:lstStyle/>
          <a:p>
            <a:pPr>
              <a:lnSpc>
                <a:spcPct val="106000"/>
              </a:lnSpc>
              <a:spcBef>
                <a:spcPts val="0"/>
              </a:spcBef>
              <a:spcAft>
                <a:spcPts val="0"/>
              </a:spcAft>
            </a:pPr>
            <a:r>
              <a:rPr sz="950" b="1">
                <a:solidFill>
                  <a:srgbClr val="1A1F25"/>
                </a:solidFill>
                <a:latin typeface="Calibri"/>
              </a:rPr>
              <a:t>Different formats  </a:t>
            </a:r>
            <a:r>
              <a:rPr sz="950" b="0">
                <a:solidFill>
                  <a:srgbClr val="5A6672"/>
                </a:solidFill>
                <a:latin typeface="Calibri"/>
              </a:rPr>
              <a:t>The delivery schema is read from the organisers' own sheet at runtime, and input is accepted as CSV or XLSX in any column order. A changed header list is absorbed, not a code change.</a:t>
            </a:r>
          </a:p>
        </p:txBody>
      </p:sp>
      <p:sp>
        <p:nvSpPr>
          <p:cNvPr id="13" name="TextBox 12"/>
          <p:cNvSpPr txBox="1"/>
          <p:nvPr/>
        </p:nvSpPr>
        <p:spPr>
          <a:xfrm>
            <a:off x="384048" y="3950208"/>
            <a:ext cx="8375904" cy="457200"/>
          </a:xfrm>
          <a:prstGeom prst="rect">
            <a:avLst/>
          </a:prstGeom>
          <a:noFill/>
        </p:spPr>
        <p:txBody>
          <a:bodyPr wrap="square" anchor="t" lIns="0" rIns="0" tIns="0" bIns="0">
            <a:spAutoFit/>
          </a:bodyPr>
          <a:lstStyle/>
          <a:p>
            <a:pPr>
              <a:lnSpc>
                <a:spcPct val="106000"/>
              </a:lnSpc>
              <a:spcBef>
                <a:spcPts val="0"/>
              </a:spcBef>
              <a:spcAft>
                <a:spcPts val="0"/>
              </a:spcAft>
            </a:pPr>
            <a:r>
              <a:rPr sz="950" b="1">
                <a:solidFill>
                  <a:srgbClr val="1A1F25"/>
                </a:solidFill>
                <a:latin typeface="Calibri"/>
              </a:rPr>
              <a:t>Continuous updates  </a:t>
            </a:r>
            <a:r>
              <a:rPr sz="950" b="0">
                <a:solidFill>
                  <a:srgbClr val="5A6672"/>
                </a:solidFill>
                <a:latin typeface="Calibri"/>
              </a:rPr>
              <a:t>Deterministic and idempotent: the same row always produces the same record, so re-runs are diffable and only genuinely changed rows need re-review.</a:t>
            </a:r>
          </a:p>
        </p:txBody>
      </p:sp>
      <p:sp>
        <p:nvSpPr>
          <p:cNvPr id="14" name="TextBox 13"/>
          <p:cNvSpPr txBox="1"/>
          <p:nvPr/>
        </p:nvSpPr>
        <p:spPr>
          <a:xfrm>
            <a:off x="384048" y="4443984"/>
            <a:ext cx="8375904" cy="457200"/>
          </a:xfrm>
          <a:prstGeom prst="rect">
            <a:avLst/>
          </a:prstGeom>
          <a:noFill/>
        </p:spPr>
        <p:txBody>
          <a:bodyPr wrap="square" anchor="t" lIns="0" rIns="0" tIns="0" bIns="0">
            <a:spAutoFit/>
          </a:bodyPr>
          <a:lstStyle/>
          <a:p>
            <a:pPr>
              <a:lnSpc>
                <a:spcPct val="106000"/>
              </a:lnSpc>
              <a:spcBef>
                <a:spcPts val="0"/>
              </a:spcBef>
              <a:spcAft>
                <a:spcPts val="0"/>
              </a:spcAft>
            </a:pPr>
            <a:r>
              <a:rPr sz="950" b="1">
                <a:solidFill>
                  <a:srgbClr val="1A1F25"/>
                </a:solidFill>
                <a:latin typeface="Calibri"/>
              </a:rPr>
              <a:t>Cost  </a:t>
            </a:r>
            <a:r>
              <a:rPr sz="950" b="0">
                <a:solidFill>
                  <a:srgbClr val="5A6672"/>
                </a:solidFill>
                <a:latin typeface="Calibri"/>
              </a:rPr>
              <a:t>The core path uses no paid inference at all. The optional hosted layer is capped, cached, and only ever invoked for rows that need it.</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